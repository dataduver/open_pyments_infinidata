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embeddedFontLst>
    <p:embeddedFont>
      <p:font typeface="Poppins"/>
      <p:regular r:id="rId15"/>
      <p:bold r:id="rId16"/>
      <p:italic r:id="rId17"/>
      <p:boldItalic r:id="rId18"/>
    </p:embeddedFont>
    <p:embeddedFont>
      <p:font typeface="Poppins Light"/>
      <p:regular r:id="rId19"/>
      <p:bold r:id="rId20"/>
      <p:italic r:id="rId21"/>
      <p:boldItalic r:id="rId22"/>
    </p:embeddedFont>
    <p:embeddedFont>
      <p:font typeface="Poppins Black"/>
      <p:bold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i1q4lbvdVWpok2Qi5wU1fWV+pL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Light-bold.fntdata"/><Relationship Id="rId22" Type="http://schemas.openxmlformats.org/officeDocument/2006/relationships/font" Target="fonts/PoppinsLight-boldItalic.fntdata"/><Relationship Id="rId21" Type="http://schemas.openxmlformats.org/officeDocument/2006/relationships/font" Target="fonts/PoppinsLight-italic.fntdata"/><Relationship Id="rId24" Type="http://schemas.openxmlformats.org/officeDocument/2006/relationships/font" Target="fonts/PoppinsBlack-boldItalic.fntdata"/><Relationship Id="rId23" Type="http://schemas.openxmlformats.org/officeDocument/2006/relationships/font" Target="fonts/PoppinsBlack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PoppinsExtraBold-boldItalic.fntdata"/><Relationship Id="rId25" Type="http://schemas.openxmlformats.org/officeDocument/2006/relationships/font" Target="fonts/PoppinsExtraBold-bold.fntdata"/><Relationship Id="rId27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font" Target="fonts/Poppins-regular.fntdata"/><Relationship Id="rId14" Type="http://schemas.openxmlformats.org/officeDocument/2006/relationships/slide" Target="slides/slide10.xml"/><Relationship Id="rId17" Type="http://schemas.openxmlformats.org/officeDocument/2006/relationships/font" Target="fonts/Poppins-italic.fntdata"/><Relationship Id="rId16" Type="http://schemas.openxmlformats.org/officeDocument/2006/relationships/font" Target="fonts/Poppins-bold.fntdata"/><Relationship Id="rId19" Type="http://schemas.openxmlformats.org/officeDocument/2006/relationships/font" Target="fonts/PoppinsLight-regular.fntdata"/><Relationship Id="rId18" Type="http://schemas.openxmlformats.org/officeDocument/2006/relationships/font" Target="fonts/Poppi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Somos Infinidata y presentamos Al Día: pagos de administración con Open Payments e Interledger.</a:t>
            </a:r>
            <a:endParaRPr/>
          </a:p>
        </p:txBody>
      </p:sp>
      <p:sp>
        <p:nvSpPr>
          <p:cNvPr id="645" name="Google Shape;64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Presentar a cada integrante en una frase.</a:t>
            </a:r>
            <a:endParaRPr/>
          </a:p>
        </p:txBody>
      </p:sp>
      <p:sp>
        <p:nvSpPr>
          <p:cNvPr id="654" name="Google Shape;65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5" name="Google Shape;66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61,7 % de los hogares de Medellín vive en propiedad horizontal. El dolor es el mismo para residente y administrador, y pega más fuerte en VIS y VIP.</a:t>
            </a:r>
            <a:endParaRPr/>
          </a:p>
        </p:txBody>
      </p:sp>
      <p:sp>
        <p:nvSpPr>
          <p:cNvPr id="666" name="Google Shape;66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9" name="Google Shape;68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Recorrer el ciclo actual: siete pasos, dos personas y ninguna confirmación inmediata. El bucle naranja es el problema: el pago que no aparece.</a:t>
            </a:r>
            <a:endParaRPr/>
          </a:p>
        </p:txBody>
      </p:sp>
      <p:sp>
        <p:nvSpPr>
          <p:cNvPr id="690" name="Google Shape;69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Pausa. Dejar que la frase haga efecto.</a:t>
            </a:r>
            <a:endParaRPr/>
          </a:p>
        </p:txBody>
      </p:sp>
      <p:sp>
        <p:nvSpPr>
          <p:cNvPr id="697" name="Google Shape;69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2" name="Google Shape;70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Dos usuarios, un mismo pago. El piloto se enfoca en conjuntos VIS y VIP.</a:t>
            </a:r>
            <a:endParaRPr/>
          </a:p>
        </p:txBody>
      </p:sp>
      <p:sp>
        <p:nvSpPr>
          <p:cNvPr id="703" name="Google Shape;70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Esta es la promesa de Al Día.</a:t>
            </a:r>
            <a:endParaRPr/>
          </a:p>
        </p:txBody>
      </p:sp>
      <p:sp>
        <p:nvSpPr>
          <p:cNvPr id="715" name="Google Shape;71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Mostrar la demo: consulta de cuota, QR, autorización en la billetera de prueba y confirmación en el panel del administrador.</a:t>
            </a:r>
            <a:endParaRPr/>
          </a:p>
        </p:txBody>
      </p:sp>
      <p:sp>
        <p:nvSpPr>
          <p:cNvPr id="720" name="Google Shape;72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Cierre con la frase y la invitación a probar Al Día.</a:t>
            </a:r>
            <a:endParaRPr/>
          </a:p>
        </p:txBody>
      </p:sp>
      <p:sp>
        <p:nvSpPr>
          <p:cNvPr id="728" name="Google Shape;72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Gracias.</a:t>
            </a:r>
            <a:endParaRPr/>
          </a:p>
        </p:txBody>
      </p:sp>
      <p:sp>
        <p:nvSpPr>
          <p:cNvPr id="733" name="Google Shape;73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image" Target="../media/image6.png"/><Relationship Id="rId8" Type="http://schemas.openxmlformats.org/officeDocument/2006/relationships/hyperlink" Target="http://interledger.org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Slide">
  <p:cSld name="4_Title Slid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14;p15"/>
          <p:cNvSpPr txBox="1"/>
          <p:nvPr>
            <p:ph idx="1" type="body"/>
          </p:nvPr>
        </p:nvSpPr>
        <p:spPr>
          <a:xfrm>
            <a:off x="436201" y="1636170"/>
            <a:ext cx="5439809" cy="228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5" name="Google Shape;15;p15"/>
          <p:cNvSpPr txBox="1"/>
          <p:nvPr>
            <p:ph idx="2" type="body"/>
          </p:nvPr>
        </p:nvSpPr>
        <p:spPr>
          <a:xfrm>
            <a:off x="656622" y="4032642"/>
            <a:ext cx="5219383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6" name="Google Shape;16;p15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"/>
            <a:headEnd len="sm" w="sm" type="none"/>
            <a:tailEnd len="sm" w="sm" type="none"/>
          </a:ln>
        </p:spPr>
      </p:cxnSp>
      <p:sp>
        <p:nvSpPr>
          <p:cNvPr id="17" name="Google Shape;17;p15"/>
          <p:cNvSpPr txBox="1"/>
          <p:nvPr>
            <p:ph idx="3" type="body"/>
          </p:nvPr>
        </p:nvSpPr>
        <p:spPr>
          <a:xfrm>
            <a:off x="549322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4" type="body"/>
          </p:nvPr>
        </p:nvSpPr>
        <p:spPr>
          <a:xfrm>
            <a:off x="2408168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19" name="Google Shape;19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15"/>
          <p:cNvGrpSpPr/>
          <p:nvPr/>
        </p:nvGrpSpPr>
        <p:grpSpPr>
          <a:xfrm>
            <a:off x="0" y="5218315"/>
            <a:ext cx="2600323" cy="385327"/>
            <a:chOff x="0" y="9303775"/>
            <a:chExt cx="8073390" cy="1196350"/>
          </a:xfrm>
        </p:grpSpPr>
        <p:sp>
          <p:nvSpPr>
            <p:cNvPr id="21" name="Google Shape;21;p15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2" name="Google Shape;22;p15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3" name="Google Shape;23;p15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4" name="Google Shape;24;p15"/>
          <p:cNvSpPr/>
          <p:nvPr/>
        </p:nvSpPr>
        <p:spPr>
          <a:xfrm flipH="1">
            <a:off x="6338369" y="198227"/>
            <a:ext cx="5098934" cy="5117897"/>
          </a:xfrm>
          <a:custGeom>
            <a:rect b="b" l="l" r="r" t="t"/>
            <a:pathLst>
              <a:path extrusionOk="0" h="7026275" w="7000240">
                <a:moveTo>
                  <a:pt x="0" y="0"/>
                </a:moveTo>
                <a:lnTo>
                  <a:pt x="0" y="7025843"/>
                </a:lnTo>
                <a:lnTo>
                  <a:pt x="7000062" y="3498443"/>
                </a:lnTo>
                <a:lnTo>
                  <a:pt x="0" y="0"/>
                </a:lnTo>
                <a:close/>
              </a:path>
            </a:pathLst>
          </a:custGeom>
          <a:solidFill>
            <a:srgbClr val="56067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25" name="Google Shape;25;p15"/>
          <p:cNvGrpSpPr/>
          <p:nvPr/>
        </p:nvGrpSpPr>
        <p:grpSpPr>
          <a:xfrm>
            <a:off x="6512282" y="485759"/>
            <a:ext cx="5679715" cy="5117897"/>
            <a:chOff x="6512282" y="198234"/>
            <a:chExt cx="5679715" cy="5117897"/>
          </a:xfrm>
        </p:grpSpPr>
        <p:sp>
          <p:nvSpPr>
            <p:cNvPr id="26" name="Google Shape;26;p15"/>
            <p:cNvSpPr/>
            <p:nvPr/>
          </p:nvSpPr>
          <p:spPr>
            <a:xfrm flipH="1">
              <a:off x="6512282" y="198234"/>
              <a:ext cx="4925023" cy="5117897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7" name="Google Shape;27;p15"/>
            <p:cNvSpPr/>
            <p:nvPr/>
          </p:nvSpPr>
          <p:spPr>
            <a:xfrm flipH="1">
              <a:off x="11437148" y="198234"/>
              <a:ext cx="754849" cy="5114660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8" name="Google Shape;28;p15"/>
          <p:cNvSpPr txBox="1"/>
          <p:nvPr/>
        </p:nvSpPr>
        <p:spPr>
          <a:xfrm>
            <a:off x="7989100" y="6007900"/>
            <a:ext cx="34482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b="0" i="0" sz="1000" u="none" cap="none" strike="noStrike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Title Slide">
  <p:cSld name="6_Title Slid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6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1" name="Google Shape;31;p16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777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" name="Google Shape;32;p16"/>
          <p:cNvSpPr/>
          <p:nvPr>
            <p:ph idx="3" type="pic"/>
          </p:nvPr>
        </p:nvSpPr>
        <p:spPr>
          <a:xfrm>
            <a:off x="401921" y="1491414"/>
            <a:ext cx="4320000" cy="4320000"/>
          </a:xfrm>
          <a:prstGeom prst="roundRect">
            <a:avLst>
              <a:gd fmla="val 1887" name="adj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3" name="Google Shape;33;p16"/>
          <p:cNvSpPr txBox="1"/>
          <p:nvPr>
            <p:ph idx="4" type="body"/>
          </p:nvPr>
        </p:nvSpPr>
        <p:spPr>
          <a:xfrm>
            <a:off x="5688471" y="180099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" name="Google Shape;34;p16"/>
          <p:cNvSpPr txBox="1"/>
          <p:nvPr>
            <p:ph idx="5" type="body"/>
          </p:nvPr>
        </p:nvSpPr>
        <p:spPr>
          <a:xfrm>
            <a:off x="5688471" y="260873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" name="Google Shape;35;p16"/>
          <p:cNvSpPr txBox="1"/>
          <p:nvPr>
            <p:ph idx="6" type="body"/>
          </p:nvPr>
        </p:nvSpPr>
        <p:spPr>
          <a:xfrm>
            <a:off x="5688471" y="341647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6" name="Google Shape;36;p16"/>
          <p:cNvSpPr txBox="1"/>
          <p:nvPr>
            <p:ph idx="7" type="body"/>
          </p:nvPr>
        </p:nvSpPr>
        <p:spPr>
          <a:xfrm>
            <a:off x="5688471" y="422421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" name="Google Shape;37;p16"/>
          <p:cNvSpPr txBox="1"/>
          <p:nvPr>
            <p:ph idx="8" type="body"/>
          </p:nvPr>
        </p:nvSpPr>
        <p:spPr>
          <a:xfrm>
            <a:off x="5688471" y="503195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38" name="Google Shape;38;p16"/>
          <p:cNvCxnSpPr/>
          <p:nvPr/>
        </p:nvCxnSpPr>
        <p:spPr>
          <a:xfrm rot="10800000">
            <a:off x="5242644" y="24391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"/>
            <a:headEnd len="sm" w="sm" type="none"/>
            <a:tailEnd len="sm" w="sm" type="none"/>
          </a:ln>
        </p:spPr>
      </p:cxnSp>
      <p:cxnSp>
        <p:nvCxnSpPr>
          <p:cNvPr id="39" name="Google Shape;39;p16"/>
          <p:cNvCxnSpPr/>
          <p:nvPr/>
        </p:nvCxnSpPr>
        <p:spPr>
          <a:xfrm rot="10800000">
            <a:off x="5242644" y="3247312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"/>
            <a:headEnd len="sm" w="sm" type="none"/>
            <a:tailEnd len="sm" w="sm" type="none"/>
          </a:ln>
        </p:spPr>
      </p:cxnSp>
      <p:cxnSp>
        <p:nvCxnSpPr>
          <p:cNvPr id="40" name="Google Shape;40;p16"/>
          <p:cNvCxnSpPr/>
          <p:nvPr/>
        </p:nvCxnSpPr>
        <p:spPr>
          <a:xfrm rot="10800000">
            <a:off x="5242644" y="40555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"/>
            <a:headEnd len="sm" w="sm" type="none"/>
            <a:tailEnd len="sm" w="sm" type="none"/>
          </a:ln>
        </p:spPr>
      </p:cxnSp>
      <p:cxnSp>
        <p:nvCxnSpPr>
          <p:cNvPr id="41" name="Google Shape;41;p16"/>
          <p:cNvCxnSpPr/>
          <p:nvPr/>
        </p:nvCxnSpPr>
        <p:spPr>
          <a:xfrm rot="10800000">
            <a:off x="5242644" y="4863714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"/>
            <a:headEnd len="sm" w="sm" type="none"/>
            <a:tailEnd len="sm" w="sm" type="none"/>
          </a:ln>
        </p:spPr>
      </p:cxnSp>
      <p:sp>
        <p:nvSpPr>
          <p:cNvPr id="42" name="Google Shape;42;p16"/>
          <p:cNvSpPr txBox="1"/>
          <p:nvPr>
            <p:ph idx="9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descr="Arrow: Straight with solid fill" id="43" name="Google Shape;43;p16"/>
          <p:cNvSpPr/>
          <p:nvPr/>
        </p:nvSpPr>
        <p:spPr>
          <a:xfrm flipH="1">
            <a:off x="5264386" y="1859171"/>
            <a:ext cx="355363" cy="355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Arrow: Straight with solid fill" id="44" name="Google Shape;44;p16"/>
          <p:cNvSpPr/>
          <p:nvPr/>
        </p:nvSpPr>
        <p:spPr>
          <a:xfrm flipH="1">
            <a:off x="5264386" y="2666911"/>
            <a:ext cx="355363" cy="355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Arrow: Straight with solid fill" id="45" name="Google Shape;45;p16"/>
          <p:cNvSpPr/>
          <p:nvPr/>
        </p:nvSpPr>
        <p:spPr>
          <a:xfrm flipH="1">
            <a:off x="5264386" y="3473732"/>
            <a:ext cx="355363" cy="355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Arrow: Straight with solid fill" id="46" name="Google Shape;46;p16"/>
          <p:cNvSpPr/>
          <p:nvPr/>
        </p:nvSpPr>
        <p:spPr>
          <a:xfrm flipH="1">
            <a:off x="5264386" y="4282391"/>
            <a:ext cx="355363" cy="355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Arrow: Straight with solid fill" id="47" name="Google Shape;47;p16"/>
          <p:cNvSpPr/>
          <p:nvPr/>
        </p:nvSpPr>
        <p:spPr>
          <a:xfrm flipH="1">
            <a:off x="5264386" y="5084003"/>
            <a:ext cx="355363" cy="355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8" name="Google Shape;48;p16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9" name="Google Shape;49;p16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0" name="Google Shape;50;p16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" name="Google Shape;51;p16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" name="Google Shape;52;p16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" name="Google Shape;53;p16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" name="Google Shape;54;p16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" name="Google Shape;55;p16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6" name="Google Shape;56;p16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" name="Google Shape;57;p16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" name="Google Shape;58;p16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" name="Google Shape;59;p16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" name="Google Shape;60;p1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" name="Google Shape;61;p16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2" name="Google Shape;62;p16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3" name="Google Shape;63;p16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64" name="Google Shape;64;p16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5" name="Google Shape;65;p16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6" name="Google Shape;66;p16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7" name="Google Shape;67;p16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8" name="Google Shape;68;p16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9" name="Google Shape;69;p16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70" name="Google Shape;70;p16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1" name="Google Shape;71;p16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72" name="Google Shape;72;p16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73" name="Google Shape;73;p16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74" name="Google Shape;74;p16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5" name="Google Shape;75;p16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6" name="Google Shape;76;p16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7" name="Google Shape;77;p16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8" name="Google Shape;78;p16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79" name="Google Shape;79;p16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80" name="Google Shape;80;p16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1" name="Google Shape;81;p16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2" name="Google Shape;82;p1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3" name="Google Shape;83;p16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4" name="Google Shape;84;p16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85" name="Google Shape;85;p16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86" name="Google Shape;86;p16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7" name="Google Shape;87;p16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8" name="Google Shape;88;p16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9" name="Google Shape;89;p1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0" name="Google Shape;90;p16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1" name="Google Shape;91;p16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92" name="Google Shape;92;p16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93" name="Google Shape;93;p16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4" name="Google Shape;94;p16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95" name="Google Shape;95;p1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6" name="Google Shape;96;p16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97" name="Google Shape;97;p16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8" name="Google Shape;98;p16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9" name="Google Shape;99;p16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0" name="Google Shape;100;p16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01" name="Google Shape;101;p1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2" name="Google Shape;102;p16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03" name="Google Shape;103;p16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4" name="Google Shape;104;p16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5" name="Google Shape;105;p16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6" name="Google Shape;106;p16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7" name="Google Shape;107;p16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08" name="Google Shape;108;p16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109" name="Google Shape;109;p16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0" name="Google Shape;110;p16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11" name="Google Shape;111;p16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12" name="Google Shape;112;p16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113" name="Google Shape;113;p16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4" name="Google Shape;114;p16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5" name="Google Shape;115;p16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6" name="Google Shape;116;p16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7" name="Google Shape;117;p16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18" name="Google Shape;118;p16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119" name="Google Shape;119;p16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0" name="Google Shape;120;p16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1" name="Google Shape;121;p1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2" name="Google Shape;122;p16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3" name="Google Shape;123;p16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24" name="Google Shape;124;p16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125" name="Google Shape;125;p1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6" name="Google Shape;126;p1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7" name="Google Shape;127;p16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8" name="Google Shape;128;p1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9" name="Google Shape;129;p16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0" name="Google Shape;130;p16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31" name="Google Shape;131;p16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132" name="Google Shape;132;p16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3" name="Google Shape;133;p16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34" name="Google Shape;134;p1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">
  <p:cSld name="9_Title Slide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7" name="Google Shape;137;p17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8" name="Google Shape;138;p17"/>
          <p:cNvSpPr txBox="1"/>
          <p:nvPr>
            <p:ph idx="3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9" name="Google Shape;139;p17"/>
          <p:cNvSpPr txBox="1"/>
          <p:nvPr>
            <p:ph idx="4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40" name="Google Shape;140;p17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142" name="Google Shape;142;p17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3" name="Google Shape;143;p17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4" name="Google Shape;144;p17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5" name="Google Shape;145;p17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46" name="Google Shape;146;p17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47" name="Google Shape;147;p17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148" name="Google Shape;148;p17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9" name="Google Shape;149;p17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0" name="Google Shape;150;p17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1" name="Google Shape;151;p17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52" name="Google Shape;152;p17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3" name="Google Shape;153;p17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4" name="Google Shape;154;p17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55" name="Google Shape;155;p17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156" name="Google Shape;156;p17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7" name="Google Shape;157;p17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8" name="Google Shape;158;p17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9" name="Google Shape;159;p17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0" name="Google Shape;160;p17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162" name="Google Shape;162;p17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3" name="Google Shape;163;p17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64" name="Google Shape;164;p17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65" name="Google Shape;165;p17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166" name="Google Shape;166;p17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7" name="Google Shape;167;p17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8" name="Google Shape;168;p17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9" name="Google Shape;169;p17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0" name="Google Shape;170;p17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172" name="Google Shape;172;p17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3" name="Google Shape;173;p17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74" name="Google Shape;174;p17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5" name="Google Shape;175;p17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6" name="Google Shape;176;p17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7" name="Google Shape;177;p17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178" name="Google Shape;178;p17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9" name="Google Shape;179;p17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0" name="Google Shape;180;p17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1" name="Google Shape;181;p17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2" name="Google Shape;182;p17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3" name="Google Shape;183;p17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84" name="Google Shape;184;p17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185" name="Google Shape;185;p17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6" name="Google Shape;186;p17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7" name="Google Shape;187;p17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88" name="Google Shape;188;p17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189" name="Google Shape;189;p17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0" name="Google Shape;190;p17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1" name="Google Shape;191;p17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2" name="Google Shape;192;p17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93" name="Google Shape;193;p17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94" name="Google Shape;194;p17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95" name="Google Shape;195;p17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6" name="Google Shape;196;p17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7" name="Google Shape;197;p17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8" name="Google Shape;198;p17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9" name="Google Shape;199;p17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00" name="Google Shape;200;p17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01" name="Google Shape;201;p17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2" name="Google Shape;202;p17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03" name="Google Shape;203;p17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04" name="Google Shape;204;p17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05" name="Google Shape;205;p17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6" name="Google Shape;206;p17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7" name="Google Shape;207;p17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8" name="Google Shape;208;p17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9" name="Google Shape;209;p17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0" name="Google Shape;210;p17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211" name="Google Shape;211;p17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2" name="Google Shape;212;p17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13" name="Google Shape;213;p17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4" name="Google Shape;214;p17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5" name="Google Shape;215;p17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6" name="Google Shape;216;p17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217" name="Google Shape;217;p17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8" name="Google Shape;218;p17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9" name="Google Shape;219;p17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0" name="Google Shape;220;p17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1" name="Google Shape;221;p17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2" name="Google Shape;222;p17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23" name="Google Shape;223;p17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224" name="Google Shape;224;p17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5" name="Google Shape;225;p17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6" name="Google Shape;226;p17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>
  <p:cSld name="13_Title Slide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"/>
          <p:cNvSpPr txBox="1"/>
          <p:nvPr>
            <p:ph idx="1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9" name="Google Shape;229;p18"/>
          <p:cNvSpPr txBox="1"/>
          <p:nvPr>
            <p:ph idx="2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230" name="Google Shape;230;p18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231" name="Google Shape;231;p18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232" name="Google Shape;232;p18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3" name="Google Shape;233;p18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4" name="Google Shape;234;p18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5" name="Google Shape;235;p18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36" name="Google Shape;236;p18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37" name="Google Shape;237;p18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238" name="Google Shape;238;p18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9" name="Google Shape;239;p18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0" name="Google Shape;240;p18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1" name="Google Shape;241;p18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42" name="Google Shape;242;p18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3" name="Google Shape;243;p18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4" name="Google Shape;244;p18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45" name="Google Shape;245;p18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246" name="Google Shape;246;p18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7" name="Google Shape;247;p18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8" name="Google Shape;248;p18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9" name="Google Shape;249;p18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0" name="Google Shape;250;p18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51" name="Google Shape;251;p18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252" name="Google Shape;252;p18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3" name="Google Shape;253;p18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54" name="Google Shape;254;p18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55" name="Google Shape;255;p18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256" name="Google Shape;256;p18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7" name="Google Shape;257;p18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8" name="Google Shape;258;p18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9" name="Google Shape;259;p18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0" name="Google Shape;260;p18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61" name="Google Shape;261;p18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262" name="Google Shape;262;p18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3" name="Google Shape;263;p18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64" name="Google Shape;264;p18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65" name="Google Shape;265;p18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6" name="Google Shape;266;p18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67" name="Google Shape;267;p18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268" name="Google Shape;268;p18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9" name="Google Shape;269;p18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0" name="Google Shape;270;p18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71" name="Google Shape;271;p18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2" name="Google Shape;272;p18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3" name="Google Shape;273;p18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4" name="Google Shape;274;p18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275" name="Google Shape;275;p18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6" name="Google Shape;276;p18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77" name="Google Shape;277;p18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78" name="Google Shape;278;p18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279" name="Google Shape;279;p18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0" name="Google Shape;280;p18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1" name="Google Shape;281;p18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2" name="Google Shape;282;p18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3" name="Google Shape;283;p18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4" name="Google Shape;284;p18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285" name="Google Shape;285;p18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6" name="Google Shape;286;p18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7" name="Google Shape;287;p18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8" name="Google Shape;288;p18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9" name="Google Shape;289;p18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90" name="Google Shape;290;p18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2" name="Google Shape;292;p18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93" name="Google Shape;293;p18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94" name="Google Shape;294;p18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95" name="Google Shape;295;p18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6" name="Google Shape;296;p18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7" name="Google Shape;297;p18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8" name="Google Shape;298;p18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9" name="Google Shape;299;p18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0" name="Google Shape;300;p18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03" name="Google Shape;303;p18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04" name="Google Shape;304;p18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6" name="Google Shape;306;p18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307" name="Google Shape;307;p18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8" name="Google Shape;308;p18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0" name="Google Shape;310;p18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11" name="Google Shape;311;p18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2" name="Google Shape;312;p18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13" name="Google Shape;313;p18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314" name="Google Shape;314;p18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5" name="Google Shape;315;p18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6" name="Google Shape;316;p18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Slide">
  <p:cSld name="14_Title Slide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9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9" name="Google Shape;319;p19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0" name="Google Shape;320;p19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21" name="Google Shape;321;p19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322" name="Google Shape;322;p19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323" name="Google Shape;323;p19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4" name="Google Shape;324;p19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5" name="Google Shape;325;p19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6" name="Google Shape;326;p19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27" name="Google Shape;327;p19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28" name="Google Shape;328;p19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329" name="Google Shape;329;p19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0" name="Google Shape;330;p19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1" name="Google Shape;331;p19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2" name="Google Shape;332;p19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3" name="Google Shape;333;p1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4" name="Google Shape;334;p19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5" name="Google Shape;335;p19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36" name="Google Shape;336;p19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337" name="Google Shape;337;p19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8" name="Google Shape;338;p19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9" name="Google Shape;339;p19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0" name="Google Shape;340;p19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1" name="Google Shape;341;p19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2" name="Google Shape;342;p19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343" name="Google Shape;343;p19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4" name="Google Shape;344;p19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45" name="Google Shape;345;p19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46" name="Google Shape;346;p19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347" name="Google Shape;347;p19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8" name="Google Shape;348;p19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9" name="Google Shape;349;p19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0" name="Google Shape;350;p19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1" name="Google Shape;351;p19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52" name="Google Shape;352;p19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353" name="Google Shape;353;p19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4" name="Google Shape;354;p19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55" name="Google Shape;355;p1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6" name="Google Shape;356;p19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7" name="Google Shape;357;p19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58" name="Google Shape;358;p19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359" name="Google Shape;359;p19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0" name="Google Shape;360;p19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1" name="Google Shape;361;p19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62" name="Google Shape;362;p1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3" name="Google Shape;363;p19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4" name="Google Shape;364;p19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5" name="Google Shape;365;p19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366" name="Google Shape;366;p19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7" name="Google Shape;367;p19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68" name="Google Shape;368;p1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69" name="Google Shape;369;p19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370" name="Google Shape;370;p19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1" name="Google Shape;371;p19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2" name="Google Shape;372;p19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3" name="Google Shape;373;p19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4" name="Google Shape;374;p1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5" name="Google Shape;375;p19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376" name="Google Shape;376;p19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7" name="Google Shape;377;p19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8" name="Google Shape;378;p19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9" name="Google Shape;379;p19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0" name="Google Shape;380;p19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81" name="Google Shape;381;p19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382" name="Google Shape;382;p19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3" name="Google Shape;383;p19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84" name="Google Shape;384;p19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85" name="Google Shape;385;p19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386" name="Google Shape;386;p19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7" name="Google Shape;387;p19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8" name="Google Shape;388;p19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9" name="Google Shape;389;p19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0" name="Google Shape;390;p19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91" name="Google Shape;391;p19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92" name="Google Shape;392;p19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3" name="Google Shape;393;p19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94" name="Google Shape;394;p1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5" name="Google Shape;395;p19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6" name="Google Shape;396;p19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97" name="Google Shape;397;p19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398" name="Google Shape;398;p1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9" name="Google Shape;399;p1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0" name="Google Shape;400;p19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01" name="Google Shape;401;p1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2" name="Google Shape;402;p19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3" name="Google Shape;403;p19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4" name="Google Shape;404;p19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405" name="Google Shape;405;p19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6" name="Google Shape;406;p19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07" name="Google Shape;407;p1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408" name="Google Shape;40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19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</a:pPr>
            <a:r>
              <a:rPr b="0" i="0" lang="en-US" sz="1000" u="sng" cap="none" strike="noStrik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b="0" i="0" lang="en-US" sz="1000" u="none" cap="none" strike="noStrik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b="0" i="0" sz="1000" u="none" cap="none" strike="noStrike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b="0" i="0" sz="1000" u="none" cap="none" strike="noStrike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 1">
  <p:cSld name="9_Title Slide_1"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20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12" name="Google Shape;412;p20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13" name="Google Shape;413;p20"/>
          <p:cNvSpPr txBox="1"/>
          <p:nvPr>
            <p:ph idx="3" type="body"/>
          </p:nvPr>
        </p:nvSpPr>
        <p:spPr>
          <a:xfrm>
            <a:off x="4823917" y="2249092"/>
            <a:ext cx="6091500" cy="27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14" name="Google Shape;414;p20"/>
          <p:cNvSpPr txBox="1"/>
          <p:nvPr>
            <p:ph idx="4" type="body"/>
          </p:nvPr>
        </p:nvSpPr>
        <p:spPr>
          <a:xfrm>
            <a:off x="7142627" y="6566902"/>
            <a:ext cx="48627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415" name="Google Shape;415;p20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16" name="Google Shape;416;p20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417" name="Google Shape;417;p20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18" name="Google Shape;418;p20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19" name="Google Shape;419;p20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20" name="Google Shape;420;p20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21" name="Google Shape;421;p20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22" name="Google Shape;422;p20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423" name="Google Shape;423;p20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24" name="Google Shape;424;p20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25" name="Google Shape;425;p20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26" name="Google Shape;426;p20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27" name="Google Shape;427;p2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28" name="Google Shape;428;p20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29" name="Google Shape;429;p20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30" name="Google Shape;430;p20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431" name="Google Shape;431;p20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32" name="Google Shape;432;p20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33" name="Google Shape;433;p20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34" name="Google Shape;434;p20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35" name="Google Shape;435;p20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36" name="Google Shape;436;p20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437" name="Google Shape;437;p20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38" name="Google Shape;438;p20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439" name="Google Shape;439;p20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440" name="Google Shape;440;p20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441" name="Google Shape;441;p20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2" name="Google Shape;442;p20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3" name="Google Shape;443;p20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4" name="Google Shape;444;p20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5" name="Google Shape;445;p20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46" name="Google Shape;446;p20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447" name="Google Shape;447;p20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8" name="Google Shape;448;p20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49" name="Google Shape;449;p2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0" name="Google Shape;450;p20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1" name="Google Shape;451;p20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2" name="Google Shape;452;p20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453" name="Google Shape;453;p20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4" name="Google Shape;454;p20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5" name="Google Shape;455;p20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56" name="Google Shape;456;p2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7" name="Google Shape;457;p20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8" name="Google Shape;458;p20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9" name="Google Shape;459;p20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460" name="Google Shape;460;p20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1" name="Google Shape;461;p20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62" name="Google Shape;462;p2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63" name="Google Shape;463;p20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464" name="Google Shape;464;p20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5" name="Google Shape;465;p20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6" name="Google Shape;466;p20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7" name="Google Shape;467;p20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68" name="Google Shape;468;p2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69" name="Google Shape;469;p20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470" name="Google Shape;470;p20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1" name="Google Shape;471;p20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2" name="Google Shape;472;p20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3" name="Google Shape;473;p20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4" name="Google Shape;474;p20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75" name="Google Shape;475;p20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476" name="Google Shape;476;p20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7" name="Google Shape;477;p20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478" name="Google Shape;478;p20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479" name="Google Shape;479;p20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480" name="Google Shape;480;p20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1" name="Google Shape;481;p20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2" name="Google Shape;482;p20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3" name="Google Shape;483;p20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4" name="Google Shape;484;p20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85" name="Google Shape;485;p20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486" name="Google Shape;486;p20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7" name="Google Shape;487;p20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88" name="Google Shape;488;p2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89" name="Google Shape;489;p20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0" name="Google Shape;490;p20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91" name="Google Shape;491;p20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492" name="Google Shape;492;p2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3" name="Google Shape;493;p2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4" name="Google Shape;494;p20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95" name="Google Shape;495;p2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96" name="Google Shape;496;p20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7" name="Google Shape;497;p20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98" name="Google Shape;498;p20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499" name="Google Shape;499;p20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0" name="Google Shape;500;p20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01" name="Google Shape;501;p2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21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504" name="Google Shape;504;p21"/>
          <p:cNvGrpSpPr/>
          <p:nvPr/>
        </p:nvGrpSpPr>
        <p:grpSpPr>
          <a:xfrm>
            <a:off x="8337" y="435776"/>
            <a:ext cx="6964298" cy="5986447"/>
            <a:chOff x="8337" y="435776"/>
            <a:chExt cx="6964298" cy="5986447"/>
          </a:xfrm>
        </p:grpSpPr>
        <p:sp>
          <p:nvSpPr>
            <p:cNvPr id="505" name="Google Shape;505;p21"/>
            <p:cNvSpPr/>
            <p:nvPr/>
          </p:nvSpPr>
          <p:spPr>
            <a:xfrm>
              <a:off x="740405" y="435776"/>
              <a:ext cx="4945969" cy="4964471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06" name="Google Shape;506;p21"/>
            <p:cNvSpPr/>
            <p:nvPr/>
          </p:nvSpPr>
          <p:spPr>
            <a:xfrm>
              <a:off x="740399" y="435781"/>
              <a:ext cx="4777276" cy="4964471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07" name="Google Shape;507;p21"/>
            <p:cNvSpPr/>
            <p:nvPr/>
          </p:nvSpPr>
          <p:spPr>
            <a:xfrm>
              <a:off x="8346" y="5397005"/>
              <a:ext cx="5939080" cy="1025218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08" name="Google Shape;508;p21"/>
            <p:cNvSpPr/>
            <p:nvPr/>
          </p:nvSpPr>
          <p:spPr>
            <a:xfrm>
              <a:off x="284373" y="5639361"/>
              <a:ext cx="5419941" cy="524581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09" name="Google Shape;509;p21"/>
            <p:cNvSpPr/>
            <p:nvPr/>
          </p:nvSpPr>
          <p:spPr>
            <a:xfrm>
              <a:off x="8337" y="435781"/>
              <a:ext cx="6964298" cy="5986423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510" name="Google Shape;510;p21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11" name="Google Shape;511;p21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512" name="Google Shape;512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775" y="5554397"/>
            <a:ext cx="2582976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Title Slide">
  <p:cSld name="17_Title Slid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2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515" name="Google Shape;515;p22"/>
          <p:cNvGrpSpPr/>
          <p:nvPr/>
        </p:nvGrpSpPr>
        <p:grpSpPr>
          <a:xfrm>
            <a:off x="8337" y="435776"/>
            <a:ext cx="6964298" cy="5986447"/>
            <a:chOff x="9728" y="1922335"/>
            <a:chExt cx="8126730" cy="6985662"/>
          </a:xfrm>
        </p:grpSpPr>
        <p:sp>
          <p:nvSpPr>
            <p:cNvPr id="516" name="Google Shape;516;p22"/>
            <p:cNvSpPr/>
            <p:nvPr/>
          </p:nvSpPr>
          <p:spPr>
            <a:xfrm>
              <a:off x="863988" y="1922335"/>
              <a:ext cx="5771515" cy="5793105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7" name="Google Shape;517;p22"/>
            <p:cNvSpPr/>
            <p:nvPr/>
          </p:nvSpPr>
          <p:spPr>
            <a:xfrm>
              <a:off x="863981" y="1922341"/>
              <a:ext cx="5574665" cy="5793105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8" name="Google Shape;518;p22"/>
            <p:cNvSpPr/>
            <p:nvPr/>
          </p:nvSpPr>
          <p:spPr>
            <a:xfrm>
              <a:off x="9738" y="7711657"/>
              <a:ext cx="6930390" cy="1196340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9" name="Google Shape;519;p22"/>
            <p:cNvSpPr/>
            <p:nvPr/>
          </p:nvSpPr>
          <p:spPr>
            <a:xfrm>
              <a:off x="331838" y="7994465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20" name="Google Shape;520;p22"/>
            <p:cNvSpPr/>
            <p:nvPr/>
          </p:nvSpPr>
          <p:spPr>
            <a:xfrm>
              <a:off x="9728" y="1922341"/>
              <a:ext cx="8126730" cy="6985634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521" name="Google Shape;521;p22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accen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22" name="Google Shape;522;p22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523" name="Google Shape;52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858" y="5568090"/>
            <a:ext cx="2582893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Title Slide">
  <p:cSld name="15_Title Slide"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3"/>
          <p:cNvSpPr/>
          <p:nvPr/>
        </p:nvSpPr>
        <p:spPr>
          <a:xfrm>
            <a:off x="0" y="0"/>
            <a:ext cx="12183600" cy="6858000"/>
          </a:xfrm>
          <a:prstGeom prst="rect">
            <a:avLst/>
          </a:prstGeom>
          <a:solidFill>
            <a:srgbClr val="4815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6" name="Google Shape;526;p23"/>
          <p:cNvSpPr txBox="1"/>
          <p:nvPr/>
        </p:nvSpPr>
        <p:spPr>
          <a:xfrm>
            <a:off x="4043999" y="2761025"/>
            <a:ext cx="4095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GRACIAS</a:t>
            </a:r>
            <a:endParaRPr b="1" i="0" sz="4000" u="none" cap="none" strike="noStrike">
              <a:solidFill>
                <a:srgbClr val="FFA8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7" name="Google Shape;527;p23"/>
          <p:cNvSpPr txBox="1"/>
          <p:nvPr/>
        </p:nvSpPr>
        <p:spPr>
          <a:xfrm>
            <a:off x="6924350" y="5397300"/>
            <a:ext cx="4763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0" lang="en-US" sz="1750" u="none" cap="none" strike="noStrike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https://interledger.org/es/</a:t>
            </a:r>
            <a:r>
              <a:rPr b="1" i="0" lang="en-US" sz="1750" u="none" cap="none" strike="noStrike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Hackathon</a:t>
            </a:r>
            <a:endParaRPr b="1" i="0" sz="1750" u="none" cap="none" strike="noStrike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1" i="0" sz="700" u="none" cap="none" strike="noStrike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0" lang="en-US" sz="1750" u="none" cap="none" strike="noStrike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#OpenPayments </a:t>
            </a:r>
            <a:r>
              <a:rPr b="1" i="0" lang="en-US" sz="1750" u="none" cap="none" strike="noStrike">
                <a:solidFill>
                  <a:srgbClr val="FFA915"/>
                </a:solidFill>
                <a:latin typeface="Poppins"/>
                <a:ea typeface="Poppins"/>
                <a:cs typeface="Poppins"/>
                <a:sym typeface="Poppins"/>
              </a:rPr>
              <a:t>#ILPHacks</a:t>
            </a:r>
            <a:endParaRPr b="1" i="0" sz="1750" u="none" cap="none" strike="noStrike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8" name="Google Shape;528;p23"/>
          <p:cNvSpPr/>
          <p:nvPr/>
        </p:nvSpPr>
        <p:spPr>
          <a:xfrm>
            <a:off x="8346" y="5397298"/>
            <a:ext cx="5942809" cy="1025862"/>
          </a:xfrm>
          <a:custGeom>
            <a:rect b="b" l="l" r="r" t="t"/>
            <a:pathLst>
              <a:path extrusionOk="0" h="1196340" w="6930390">
                <a:moveTo>
                  <a:pt x="6930385" y="0"/>
                </a:moveTo>
                <a:lnTo>
                  <a:pt x="0" y="0"/>
                </a:lnTo>
                <a:lnTo>
                  <a:pt x="0" y="1195974"/>
                </a:lnTo>
                <a:lnTo>
                  <a:pt x="6930385" y="1195974"/>
                </a:lnTo>
                <a:lnTo>
                  <a:pt x="6930385" y="0"/>
                </a:lnTo>
                <a:close/>
              </a:path>
            </a:pathLst>
          </a:custGeom>
          <a:solidFill>
            <a:srgbClr val="FFA915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9" name="Google Shape;529;p23"/>
          <p:cNvSpPr/>
          <p:nvPr/>
        </p:nvSpPr>
        <p:spPr>
          <a:xfrm>
            <a:off x="284386" y="5639664"/>
            <a:ext cx="5423344" cy="524910"/>
          </a:xfrm>
          <a:custGeom>
            <a:rect b="b" l="l" r="r" t="t"/>
            <a:pathLst>
              <a:path extrusionOk="0" h="612140" w="6324600">
                <a:moveTo>
                  <a:pt x="394309" y="305930"/>
                </a:moveTo>
                <a:lnTo>
                  <a:pt x="0" y="0"/>
                </a:lnTo>
                <a:lnTo>
                  <a:pt x="0" y="611860"/>
                </a:lnTo>
                <a:lnTo>
                  <a:pt x="394309" y="305930"/>
                </a:lnTo>
                <a:close/>
              </a:path>
              <a:path extrusionOk="0" h="612140" w="6324600">
                <a:moveTo>
                  <a:pt x="933411" y="305930"/>
                </a:moveTo>
                <a:lnTo>
                  <a:pt x="539115" y="0"/>
                </a:lnTo>
                <a:lnTo>
                  <a:pt x="539115" y="611860"/>
                </a:lnTo>
                <a:lnTo>
                  <a:pt x="933411" y="305930"/>
                </a:lnTo>
                <a:close/>
              </a:path>
              <a:path extrusionOk="0" h="612140" w="6324600">
                <a:moveTo>
                  <a:pt x="1472526" y="305930"/>
                </a:moveTo>
                <a:lnTo>
                  <a:pt x="1078217" y="0"/>
                </a:lnTo>
                <a:lnTo>
                  <a:pt x="1078217" y="611860"/>
                </a:lnTo>
                <a:lnTo>
                  <a:pt x="1472526" y="305930"/>
                </a:lnTo>
                <a:close/>
              </a:path>
              <a:path extrusionOk="0" h="612140" w="6324600">
                <a:moveTo>
                  <a:pt x="2011629" y="305930"/>
                </a:moveTo>
                <a:lnTo>
                  <a:pt x="1617332" y="0"/>
                </a:lnTo>
                <a:lnTo>
                  <a:pt x="1617332" y="611860"/>
                </a:lnTo>
                <a:lnTo>
                  <a:pt x="2011629" y="305930"/>
                </a:lnTo>
                <a:close/>
              </a:path>
              <a:path extrusionOk="0" h="612140" w="6324600">
                <a:moveTo>
                  <a:pt x="2550744" y="305930"/>
                </a:moveTo>
                <a:lnTo>
                  <a:pt x="2156434" y="0"/>
                </a:lnTo>
                <a:lnTo>
                  <a:pt x="2156434" y="611860"/>
                </a:lnTo>
                <a:lnTo>
                  <a:pt x="2550744" y="305930"/>
                </a:lnTo>
                <a:close/>
              </a:path>
              <a:path extrusionOk="0" h="612140" w="6324600">
                <a:moveTo>
                  <a:pt x="3089846" y="305930"/>
                </a:moveTo>
                <a:lnTo>
                  <a:pt x="2695549" y="0"/>
                </a:lnTo>
                <a:lnTo>
                  <a:pt x="2695549" y="611860"/>
                </a:lnTo>
                <a:lnTo>
                  <a:pt x="3089846" y="305930"/>
                </a:lnTo>
                <a:close/>
              </a:path>
              <a:path extrusionOk="0" h="612140" w="6324600">
                <a:moveTo>
                  <a:pt x="3628961" y="305930"/>
                </a:moveTo>
                <a:lnTo>
                  <a:pt x="3234664" y="0"/>
                </a:lnTo>
                <a:lnTo>
                  <a:pt x="3234664" y="611860"/>
                </a:lnTo>
                <a:lnTo>
                  <a:pt x="3628961" y="305930"/>
                </a:lnTo>
                <a:close/>
              </a:path>
              <a:path extrusionOk="0" h="612140" w="6324600">
                <a:moveTo>
                  <a:pt x="4168063" y="305930"/>
                </a:moveTo>
                <a:lnTo>
                  <a:pt x="3773767" y="0"/>
                </a:lnTo>
                <a:lnTo>
                  <a:pt x="3773767" y="611860"/>
                </a:lnTo>
                <a:lnTo>
                  <a:pt x="4168063" y="305930"/>
                </a:lnTo>
                <a:close/>
              </a:path>
              <a:path extrusionOk="0" h="612140" w="6324600">
                <a:moveTo>
                  <a:pt x="4707179" y="305930"/>
                </a:moveTo>
                <a:lnTo>
                  <a:pt x="4312882" y="0"/>
                </a:lnTo>
                <a:lnTo>
                  <a:pt x="4312882" y="611860"/>
                </a:lnTo>
                <a:lnTo>
                  <a:pt x="4707179" y="305930"/>
                </a:lnTo>
                <a:close/>
              </a:path>
              <a:path extrusionOk="0" h="612140" w="6324600">
                <a:moveTo>
                  <a:pt x="5246281" y="305930"/>
                </a:moveTo>
                <a:lnTo>
                  <a:pt x="4851984" y="0"/>
                </a:lnTo>
                <a:lnTo>
                  <a:pt x="4851984" y="611860"/>
                </a:lnTo>
                <a:lnTo>
                  <a:pt x="5246281" y="305930"/>
                </a:lnTo>
                <a:close/>
              </a:path>
              <a:path extrusionOk="0" h="612140" w="6324600">
                <a:moveTo>
                  <a:pt x="5785396" y="305930"/>
                </a:moveTo>
                <a:lnTo>
                  <a:pt x="5391099" y="0"/>
                </a:lnTo>
                <a:lnTo>
                  <a:pt x="5391099" y="611860"/>
                </a:lnTo>
                <a:lnTo>
                  <a:pt x="5785396" y="305930"/>
                </a:lnTo>
                <a:close/>
              </a:path>
              <a:path extrusionOk="0" h="612140" w="6324600">
                <a:moveTo>
                  <a:pt x="6324498" y="305930"/>
                </a:moveTo>
                <a:lnTo>
                  <a:pt x="5930201" y="0"/>
                </a:lnTo>
                <a:lnTo>
                  <a:pt x="5930201" y="611860"/>
                </a:lnTo>
                <a:lnTo>
                  <a:pt x="6324498" y="305930"/>
                </a:lnTo>
                <a:close/>
              </a:path>
            </a:pathLst>
          </a:custGeom>
          <a:solidFill>
            <a:srgbClr val="56077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30" name="Google Shape;530;p23"/>
          <p:cNvSpPr/>
          <p:nvPr/>
        </p:nvSpPr>
        <p:spPr>
          <a:xfrm>
            <a:off x="8337" y="435854"/>
            <a:ext cx="6968671" cy="5990181"/>
          </a:xfrm>
          <a:custGeom>
            <a:rect b="b" l="l" r="r" t="t"/>
            <a:pathLst>
              <a:path extrusionOk="0" h="6985634" w="8126730">
                <a:moveTo>
                  <a:pt x="854252" y="0"/>
                </a:moveTo>
                <a:lnTo>
                  <a:pt x="0" y="0"/>
                </a:lnTo>
                <a:lnTo>
                  <a:pt x="0" y="211988"/>
                </a:lnTo>
                <a:lnTo>
                  <a:pt x="854252" y="211988"/>
                </a:lnTo>
                <a:lnTo>
                  <a:pt x="854252" y="0"/>
                </a:lnTo>
                <a:close/>
              </a:path>
              <a:path extrusionOk="0" h="6985634" w="8126730">
                <a:moveTo>
                  <a:pt x="854265" y="5596331"/>
                </a:moveTo>
                <a:lnTo>
                  <a:pt x="12" y="5596331"/>
                </a:lnTo>
                <a:lnTo>
                  <a:pt x="12" y="5792660"/>
                </a:lnTo>
                <a:lnTo>
                  <a:pt x="854265" y="5792660"/>
                </a:lnTo>
                <a:lnTo>
                  <a:pt x="854265" y="5596331"/>
                </a:lnTo>
                <a:close/>
              </a:path>
              <a:path extrusionOk="0" h="6985634" w="8126730">
                <a:moveTo>
                  <a:pt x="854265" y="5165839"/>
                </a:moveTo>
                <a:lnTo>
                  <a:pt x="12" y="5165839"/>
                </a:lnTo>
                <a:lnTo>
                  <a:pt x="12" y="5363375"/>
                </a:lnTo>
                <a:lnTo>
                  <a:pt x="854265" y="5363375"/>
                </a:lnTo>
                <a:lnTo>
                  <a:pt x="854265" y="5165839"/>
                </a:lnTo>
                <a:close/>
              </a:path>
              <a:path extrusionOk="0" h="6985634" w="8126730">
                <a:moveTo>
                  <a:pt x="854265" y="4735360"/>
                </a:moveTo>
                <a:lnTo>
                  <a:pt x="12" y="4735360"/>
                </a:lnTo>
                <a:lnTo>
                  <a:pt x="12" y="4934102"/>
                </a:lnTo>
                <a:lnTo>
                  <a:pt x="854265" y="4934102"/>
                </a:lnTo>
                <a:lnTo>
                  <a:pt x="854265" y="4735360"/>
                </a:lnTo>
                <a:close/>
              </a:path>
              <a:path extrusionOk="0" h="6985634" w="8126730">
                <a:moveTo>
                  <a:pt x="854265" y="4304881"/>
                </a:moveTo>
                <a:lnTo>
                  <a:pt x="12" y="4304881"/>
                </a:lnTo>
                <a:lnTo>
                  <a:pt x="12" y="4504817"/>
                </a:lnTo>
                <a:lnTo>
                  <a:pt x="854265" y="4504817"/>
                </a:lnTo>
                <a:lnTo>
                  <a:pt x="854265" y="4304881"/>
                </a:lnTo>
                <a:close/>
              </a:path>
              <a:path extrusionOk="0" h="6985634" w="8126730">
                <a:moveTo>
                  <a:pt x="854265" y="3874389"/>
                </a:moveTo>
                <a:lnTo>
                  <a:pt x="12" y="3874389"/>
                </a:lnTo>
                <a:lnTo>
                  <a:pt x="12" y="4075531"/>
                </a:lnTo>
                <a:lnTo>
                  <a:pt x="854265" y="4075531"/>
                </a:lnTo>
                <a:lnTo>
                  <a:pt x="854265" y="3874389"/>
                </a:lnTo>
                <a:close/>
              </a:path>
              <a:path extrusionOk="0" h="6985634" w="8126730">
                <a:moveTo>
                  <a:pt x="854265" y="3443897"/>
                </a:moveTo>
                <a:lnTo>
                  <a:pt x="12" y="3443897"/>
                </a:lnTo>
                <a:lnTo>
                  <a:pt x="12" y="3646246"/>
                </a:lnTo>
                <a:lnTo>
                  <a:pt x="854265" y="3646246"/>
                </a:lnTo>
                <a:lnTo>
                  <a:pt x="854265" y="3443897"/>
                </a:lnTo>
                <a:close/>
              </a:path>
              <a:path extrusionOk="0" h="6985634" w="8126730">
                <a:moveTo>
                  <a:pt x="854265" y="3013405"/>
                </a:moveTo>
                <a:lnTo>
                  <a:pt x="12" y="3013405"/>
                </a:lnTo>
                <a:lnTo>
                  <a:pt x="12" y="3216960"/>
                </a:lnTo>
                <a:lnTo>
                  <a:pt x="854265" y="3216960"/>
                </a:lnTo>
                <a:lnTo>
                  <a:pt x="854265" y="3013405"/>
                </a:lnTo>
                <a:close/>
              </a:path>
              <a:path extrusionOk="0" h="6985634" w="8126730">
                <a:moveTo>
                  <a:pt x="854265" y="2582926"/>
                </a:moveTo>
                <a:lnTo>
                  <a:pt x="12" y="2582926"/>
                </a:lnTo>
                <a:lnTo>
                  <a:pt x="12" y="2787688"/>
                </a:lnTo>
                <a:lnTo>
                  <a:pt x="854265" y="2787688"/>
                </a:lnTo>
                <a:lnTo>
                  <a:pt x="854265" y="2582926"/>
                </a:lnTo>
                <a:close/>
              </a:path>
              <a:path extrusionOk="0" h="6985634" w="8126730">
                <a:moveTo>
                  <a:pt x="854265" y="2152434"/>
                </a:moveTo>
                <a:lnTo>
                  <a:pt x="12" y="2152434"/>
                </a:lnTo>
                <a:lnTo>
                  <a:pt x="12" y="2358402"/>
                </a:lnTo>
                <a:lnTo>
                  <a:pt x="854265" y="2358402"/>
                </a:lnTo>
                <a:lnTo>
                  <a:pt x="854265" y="2152434"/>
                </a:lnTo>
                <a:close/>
              </a:path>
              <a:path extrusionOk="0" h="6985634" w="8126730">
                <a:moveTo>
                  <a:pt x="854265" y="1721942"/>
                </a:moveTo>
                <a:lnTo>
                  <a:pt x="12" y="1721942"/>
                </a:lnTo>
                <a:lnTo>
                  <a:pt x="12" y="1929117"/>
                </a:lnTo>
                <a:lnTo>
                  <a:pt x="854265" y="1929117"/>
                </a:lnTo>
                <a:lnTo>
                  <a:pt x="854265" y="1721942"/>
                </a:lnTo>
                <a:close/>
              </a:path>
              <a:path extrusionOk="0" h="6985634" w="8126730">
                <a:moveTo>
                  <a:pt x="854265" y="1291463"/>
                </a:moveTo>
                <a:lnTo>
                  <a:pt x="12" y="1291463"/>
                </a:lnTo>
                <a:lnTo>
                  <a:pt x="12" y="1499831"/>
                </a:lnTo>
                <a:lnTo>
                  <a:pt x="854265" y="1499831"/>
                </a:lnTo>
                <a:lnTo>
                  <a:pt x="854265" y="1291463"/>
                </a:lnTo>
                <a:close/>
              </a:path>
              <a:path extrusionOk="0" h="6985634" w="8126730">
                <a:moveTo>
                  <a:pt x="854265" y="860983"/>
                </a:moveTo>
                <a:lnTo>
                  <a:pt x="12" y="860983"/>
                </a:lnTo>
                <a:lnTo>
                  <a:pt x="12" y="1070559"/>
                </a:lnTo>
                <a:lnTo>
                  <a:pt x="854265" y="1070559"/>
                </a:lnTo>
                <a:lnTo>
                  <a:pt x="854265" y="860983"/>
                </a:lnTo>
                <a:close/>
              </a:path>
              <a:path extrusionOk="0" h="6985634" w="8126730">
                <a:moveTo>
                  <a:pt x="854265" y="430491"/>
                </a:moveTo>
                <a:lnTo>
                  <a:pt x="12" y="430491"/>
                </a:lnTo>
                <a:lnTo>
                  <a:pt x="12" y="641273"/>
                </a:lnTo>
                <a:lnTo>
                  <a:pt x="854265" y="641273"/>
                </a:lnTo>
                <a:lnTo>
                  <a:pt x="854265" y="430491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789320"/>
                </a:lnTo>
                <a:lnTo>
                  <a:pt x="6930390" y="584168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935827"/>
                </a:lnTo>
                <a:lnTo>
                  <a:pt x="6930390" y="5984633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082322"/>
                </a:lnTo>
                <a:lnTo>
                  <a:pt x="6930390" y="6127585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228829"/>
                </a:lnTo>
                <a:lnTo>
                  <a:pt x="6930390" y="6270536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375349"/>
                </a:lnTo>
                <a:lnTo>
                  <a:pt x="6930390" y="6413487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521844"/>
                </a:lnTo>
                <a:lnTo>
                  <a:pt x="6930390" y="6556438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668351"/>
                </a:lnTo>
                <a:lnTo>
                  <a:pt x="6930390" y="669940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814858"/>
                </a:lnTo>
                <a:lnTo>
                  <a:pt x="6930390" y="6842341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961365"/>
                </a:lnTo>
                <a:lnTo>
                  <a:pt x="6930390" y="6985292"/>
                </a:lnTo>
                <a:lnTo>
                  <a:pt x="8126362" y="5789320"/>
                </a:lnTo>
                <a:close/>
              </a:path>
            </a:pathLst>
          </a:custGeom>
          <a:solidFill>
            <a:srgbClr val="90A0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31" name="Google Shape;531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4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34" name="Google Shape;534;p24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35" name="Google Shape;535;p24"/>
          <p:cNvSpPr txBox="1"/>
          <p:nvPr>
            <p:ph idx="3" type="body"/>
          </p:nvPr>
        </p:nvSpPr>
        <p:spPr>
          <a:xfrm>
            <a:off x="813514" y="2249093"/>
            <a:ext cx="3311918" cy="27197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3BA2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A3BA2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36" name="Google Shape;536;p24"/>
          <p:cNvSpPr txBox="1"/>
          <p:nvPr>
            <p:ph idx="4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37" name="Google Shape;537;p24"/>
          <p:cNvSpPr txBox="1"/>
          <p:nvPr>
            <p:ph idx="5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538" name="Google Shape;538;p24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539" name="Google Shape;539;p24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40" name="Google Shape;540;p24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1" name="Google Shape;541;p24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2" name="Google Shape;542;p24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3" name="Google Shape;543;p24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4" name="Google Shape;544;p24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45" name="Google Shape;545;p24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46" name="Google Shape;546;p24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7" name="Google Shape;547;p24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8" name="Google Shape;548;p24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9" name="Google Shape;549;p24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50" name="Google Shape;550;p2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51" name="Google Shape;551;p24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2" name="Google Shape;552;p24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53" name="Google Shape;553;p24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554" name="Google Shape;554;p24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5" name="Google Shape;555;p24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6" name="Google Shape;556;p24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7" name="Google Shape;557;p24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8" name="Google Shape;558;p24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59" name="Google Shape;559;p24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560" name="Google Shape;560;p24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1" name="Google Shape;561;p24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62" name="Google Shape;562;p24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63" name="Google Shape;563;p24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564" name="Google Shape;564;p24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5" name="Google Shape;565;p24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6" name="Google Shape;566;p24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7" name="Google Shape;567;p24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8" name="Google Shape;568;p24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9" name="Google Shape;569;p24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570" name="Google Shape;570;p24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1" name="Google Shape;571;p24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2" name="Google Shape;572;p2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73" name="Google Shape;573;p24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4" name="Google Shape;574;p24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75" name="Google Shape;575;p24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576" name="Google Shape;576;p24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7" name="Google Shape;577;p24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8" name="Google Shape;578;p24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9" name="Google Shape;579;p2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80" name="Google Shape;580;p24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1" name="Google Shape;581;p24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82" name="Google Shape;582;p24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583" name="Google Shape;583;p24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4" name="Google Shape;584;p24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85" name="Google Shape;585;p2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86" name="Google Shape;586;p24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587" name="Google Shape;587;p24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8" name="Google Shape;588;p24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9" name="Google Shape;589;p24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0" name="Google Shape;590;p24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91" name="Google Shape;591;p2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92" name="Google Shape;592;p24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593" name="Google Shape;593;p24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4" name="Google Shape;594;p24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5" name="Google Shape;595;p24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6" name="Google Shape;596;p24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7" name="Google Shape;597;p24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8" name="Google Shape;598;p24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599" name="Google Shape;599;p24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0" name="Google Shape;600;p24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601" name="Google Shape;601;p24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25"/>
                <a:buFont typeface="Arial"/>
                <a:buNone/>
              </a:pPr>
              <a:r>
                <a:t/>
              </a:r>
              <a:endParaRPr b="0" i="0" sz="2625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602" name="Google Shape;602;p24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603" name="Google Shape;603;p24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4" name="Google Shape;604;p24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5" name="Google Shape;605;p24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6" name="Google Shape;606;p24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7" name="Google Shape;607;p24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8" name="Google Shape;608;p24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609" name="Google Shape;609;p24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0" name="Google Shape;610;p24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1" name="Google Shape;611;p2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2" name="Google Shape;612;p24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3" name="Google Shape;613;p24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14" name="Google Shape;614;p24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615" name="Google Shape;615;p2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6" name="Google Shape;616;p2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7" name="Google Shape;617;p24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8" name="Google Shape;618;p2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9" name="Google Shape;619;p24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20" name="Google Shape;620;p24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21" name="Google Shape;621;p24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622" name="Google Shape;622;p24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23" name="Google Shape;623;p24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25"/>
                  <a:buFont typeface="Arial"/>
                  <a:buNone/>
                </a:pPr>
                <a:r>
                  <a:t/>
                </a:r>
                <a:endParaRPr b="0" i="0" sz="2625" u="none" cap="none" strike="noStrik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24" name="Google Shape;624;p2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7" name="Google Shape;627;p25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28" name="Google Shape;628;p25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629" name="Google Shape;629;p25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"/>
            <a:headEnd len="sm" w="sm" type="none"/>
            <a:tailEnd len="sm" w="sm" type="none"/>
          </a:ln>
        </p:spPr>
      </p:cxnSp>
      <p:sp>
        <p:nvSpPr>
          <p:cNvPr id="630" name="Google Shape;630;p25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31" name="Google Shape;631;p25"/>
          <p:cNvSpPr txBox="1"/>
          <p:nvPr>
            <p:ph idx="4" type="body"/>
          </p:nvPr>
        </p:nvSpPr>
        <p:spPr>
          <a:xfrm>
            <a:off x="2408168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632" name="Google Shape;6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25"/>
          <p:cNvGrpSpPr/>
          <p:nvPr/>
        </p:nvGrpSpPr>
        <p:grpSpPr>
          <a:xfrm>
            <a:off x="0" y="5218448"/>
            <a:ext cx="2600439" cy="385344"/>
            <a:chOff x="0" y="9303775"/>
            <a:chExt cx="8073390" cy="1196350"/>
          </a:xfrm>
        </p:grpSpPr>
        <p:sp>
          <p:nvSpPr>
            <p:cNvPr id="634" name="Google Shape;634;p25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5" name="Google Shape;635;p25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6" name="Google Shape;636;p25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637" name="Google Shape;637;p25"/>
          <p:cNvGrpSpPr/>
          <p:nvPr/>
        </p:nvGrpSpPr>
        <p:grpSpPr>
          <a:xfrm>
            <a:off x="6344628" y="487055"/>
            <a:ext cx="5847372" cy="5116588"/>
            <a:chOff x="6344628" y="928827"/>
            <a:chExt cx="5847372" cy="5116588"/>
          </a:xfrm>
        </p:grpSpPr>
        <p:sp>
          <p:nvSpPr>
            <p:cNvPr id="638" name="Google Shape;638;p25"/>
            <p:cNvSpPr/>
            <p:nvPr/>
          </p:nvSpPr>
          <p:spPr>
            <a:xfrm flipH="1">
              <a:off x="6344628" y="928827"/>
              <a:ext cx="5092675" cy="5111615"/>
            </a:xfrm>
            <a:custGeom>
              <a:rect b="b" l="l" r="r" t="t"/>
              <a:pathLst>
                <a:path extrusionOk="0" h="7026275" w="7000240">
                  <a:moveTo>
                    <a:pt x="0" y="0"/>
                  </a:moveTo>
                  <a:lnTo>
                    <a:pt x="0" y="7025843"/>
                  </a:lnTo>
                  <a:lnTo>
                    <a:pt x="7000062" y="34984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67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9" name="Google Shape;639;p25"/>
            <p:cNvSpPr/>
            <p:nvPr/>
          </p:nvSpPr>
          <p:spPr>
            <a:xfrm flipH="1">
              <a:off x="6518328" y="933582"/>
              <a:ext cx="4918977" cy="5111615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0" name="Google Shape;640;p25"/>
            <p:cNvSpPr/>
            <p:nvPr/>
          </p:nvSpPr>
          <p:spPr>
            <a:xfrm flipH="1">
              <a:off x="11438075" y="933582"/>
              <a:ext cx="753922" cy="5108381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641" name="Google Shape;641;p25"/>
            <p:cNvPicPr preferRelativeResize="0"/>
            <p:nvPr/>
          </p:nvPicPr>
          <p:blipFill rotWithShape="1">
            <a:blip r:embed="rId3">
              <a:alphaModFix/>
            </a:blip>
            <a:srcRect b="2856" l="0" r="0" t="0"/>
            <a:stretch/>
          </p:blipFill>
          <p:spPr>
            <a:xfrm flipH="1">
              <a:off x="6813518" y="1877725"/>
              <a:ext cx="5314701" cy="4125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2" name="Google Shape;642;p25"/>
            <p:cNvSpPr/>
            <p:nvPr/>
          </p:nvSpPr>
          <p:spPr>
            <a:xfrm flipH="1">
              <a:off x="7022230" y="5871298"/>
              <a:ext cx="5169770" cy="174117"/>
            </a:xfrm>
            <a:custGeom>
              <a:rect b="b" l="l" r="r" t="t"/>
              <a:pathLst>
                <a:path extrusionOk="0" h="1450975" w="8406130">
                  <a:moveTo>
                    <a:pt x="8405774" y="0"/>
                  </a:moveTo>
                  <a:lnTo>
                    <a:pt x="0" y="0"/>
                  </a:lnTo>
                  <a:lnTo>
                    <a:pt x="12" y="1450581"/>
                  </a:lnTo>
                  <a:lnTo>
                    <a:pt x="8405774" y="1450581"/>
                  </a:lnTo>
                  <a:lnTo>
                    <a:pt x="840577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33"/>
                <a:buFont typeface="Arial"/>
                <a:buNone/>
              </a:pPr>
              <a:r>
                <a:t/>
              </a:r>
              <a:endParaRPr b="0" i="0" sz="1333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  <p:transition spd="slow">
    <p:push/>
  </p:transition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1.png"/><Relationship Id="rId2" Type="http://schemas.openxmlformats.org/officeDocument/2006/relationships/hyperlink" Target="http://interledger.org" TargetMode="External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929225" y="295100"/>
            <a:ext cx="1972325" cy="5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4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</a:pPr>
            <a:r>
              <a:rPr b="0" i="0" lang="en-US" sz="1000" u="sng" cap="none" strike="noStrike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b="0" i="0" lang="en-US" sz="1000" u="none" cap="none" strike="noStrike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b="0" i="0" sz="1000" u="none" cap="none" strike="noStrike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b="0" i="0" sz="1000" u="none" cap="none" strike="noStrike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None/>
            </a:pPr>
            <a:r>
              <a:rPr lang="en-US"/>
              <a:t>INFINIDATA</a:t>
            </a:r>
            <a:endParaRPr/>
          </a:p>
        </p:txBody>
      </p:sp>
      <p:sp>
        <p:nvSpPr>
          <p:cNvPr id="648" name="Google Shape;648;p1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/>
              <a:t>AL DÍA</a:t>
            </a:r>
            <a:endParaRPr/>
          </a:p>
        </p:txBody>
      </p:sp>
      <p:sp>
        <p:nvSpPr>
          <p:cNvPr id="649" name="Google Shape;649;p1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US"/>
              <a:t>FECHA:</a:t>
            </a:r>
            <a:br>
              <a:rPr lang="en-US"/>
            </a:br>
            <a:r>
              <a:rPr lang="en-US"/>
              <a:t>17 Octubre 2026</a:t>
            </a:r>
            <a:endParaRPr/>
          </a:p>
        </p:txBody>
      </p:sp>
      <p:sp>
        <p:nvSpPr>
          <p:cNvPr id="650" name="Google Shape;650;p1"/>
          <p:cNvSpPr txBox="1"/>
          <p:nvPr>
            <p:ph idx="4" type="body"/>
          </p:nvPr>
        </p:nvSpPr>
        <p:spPr>
          <a:xfrm>
            <a:off x="2408178" y="6031225"/>
            <a:ext cx="2712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US"/>
              <a:t>CIUDAD: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BELLO – MEDELLÍN (VALLE DE ABURRÁ)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651" name="Google Shape;651;p1"/>
          <p:cNvSpPr txBox="1"/>
          <p:nvPr/>
        </p:nvSpPr>
        <p:spPr>
          <a:xfrm>
            <a:off x="658368" y="4553712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Pagos de administración con Open Payments e Interledger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2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rPr>
              <a:t>Equipo Infinidata · Bello y Medellín</a:t>
            </a:r>
            <a:endParaRPr/>
          </a:p>
        </p:txBody>
      </p:sp>
      <p:sp>
        <p:nvSpPr>
          <p:cNvPr id="657" name="Google Shape;657;p2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>
                <a:solidFill>
                  <a:srgbClr val="560676"/>
                </a:solidFill>
              </a:rPr>
              <a:t>INTRODUCCIÓN DEL EQUIPO</a:t>
            </a:r>
            <a:endParaRPr/>
          </a:p>
        </p:txBody>
      </p:sp>
      <p:sp>
        <p:nvSpPr>
          <p:cNvPr id="658" name="Google Shape;658;p2"/>
          <p:cNvSpPr txBox="1"/>
          <p:nvPr>
            <p:ph idx="4" type="body"/>
          </p:nvPr>
        </p:nvSpPr>
        <p:spPr>
          <a:xfrm>
            <a:off x="5688471" y="180099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-US"/>
              <a:t>Ana Lucia Monsalve Arboleda</a:t>
            </a:r>
            <a:endParaRPr/>
          </a:p>
        </p:txBody>
      </p:sp>
      <p:sp>
        <p:nvSpPr>
          <p:cNvPr id="659" name="Google Shape;659;p2"/>
          <p:cNvSpPr txBox="1"/>
          <p:nvPr>
            <p:ph idx="5" type="body"/>
          </p:nvPr>
        </p:nvSpPr>
        <p:spPr>
          <a:xfrm>
            <a:off x="5688471" y="260873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Maria Luz Aide Castaño Murillo</a:t>
            </a:r>
            <a:endParaRPr/>
          </a:p>
        </p:txBody>
      </p:sp>
      <p:sp>
        <p:nvSpPr>
          <p:cNvPr id="660" name="Google Shape;660;p2"/>
          <p:cNvSpPr txBox="1"/>
          <p:nvPr>
            <p:ph idx="6" type="body"/>
          </p:nvPr>
        </p:nvSpPr>
        <p:spPr>
          <a:xfrm>
            <a:off x="5688471" y="341647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Diego Alejandro Mesa Vásquez</a:t>
            </a:r>
            <a:endParaRPr/>
          </a:p>
        </p:txBody>
      </p:sp>
      <p:sp>
        <p:nvSpPr>
          <p:cNvPr id="661" name="Google Shape;661;p2"/>
          <p:cNvSpPr txBox="1"/>
          <p:nvPr>
            <p:ph idx="7" type="body"/>
          </p:nvPr>
        </p:nvSpPr>
        <p:spPr>
          <a:xfrm>
            <a:off x="5688471" y="422421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Duver Mesa Vásquez</a:t>
            </a:r>
            <a:endParaRPr/>
          </a:p>
        </p:txBody>
      </p:sp>
      <p:pic>
        <p:nvPicPr>
          <p:cNvPr id="662" name="Google Shape;66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257" y="1759104"/>
            <a:ext cx="4397144" cy="3299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4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rPr>
              <a:t>Pagar la administración es fácil. Demostrar que pagaste, no</a:t>
            </a:r>
            <a:endParaRPr/>
          </a:p>
        </p:txBody>
      </p:sp>
      <p:sp>
        <p:nvSpPr>
          <p:cNvPr id="669" name="Google Shape;669;p4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PLANTEAMIENTO DEL PROBLEMA</a:t>
            </a:r>
            <a:endParaRPr/>
          </a:p>
        </p:txBody>
      </p:sp>
      <p:sp>
        <p:nvSpPr>
          <p:cNvPr id="670" name="Google Shape;670;p4"/>
          <p:cNvSpPr txBox="1"/>
          <p:nvPr/>
        </p:nvSpPr>
        <p:spPr>
          <a:xfrm>
            <a:off x="603504" y="1371600"/>
            <a:ext cx="47548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61,7 %</a:t>
            </a:r>
            <a:endParaRPr/>
          </a:p>
        </p:txBody>
      </p:sp>
      <p:sp>
        <p:nvSpPr>
          <p:cNvPr id="671" name="Google Shape;671;p4"/>
          <p:cNvSpPr txBox="1"/>
          <p:nvPr/>
        </p:nvSpPr>
        <p:spPr>
          <a:xfrm>
            <a:off x="603504" y="256032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60777"/>
                </a:solidFill>
                <a:latin typeface="Poppins"/>
                <a:ea typeface="Poppins"/>
                <a:cs typeface="Poppins"/>
                <a:sym typeface="Poppins"/>
              </a:rPr>
              <a:t>de los hogares urbanos de Medellín vive en propiedad horizontal y paga una cuota de administración cada mes.</a:t>
            </a:r>
            <a:endParaRPr/>
          </a:p>
        </p:txBody>
      </p:sp>
      <p:sp>
        <p:nvSpPr>
          <p:cNvPr id="672" name="Google Shape;672;p4"/>
          <p:cNvSpPr txBox="1"/>
          <p:nvPr/>
        </p:nvSpPr>
        <p:spPr>
          <a:xfrm>
            <a:off x="603504" y="3364992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E5384"/>
                </a:solidFill>
                <a:latin typeface="Poppins"/>
                <a:ea typeface="Poppins"/>
                <a:cs typeface="Poppins"/>
                <a:sym typeface="Poppins"/>
              </a:rPr>
              <a:t>Fedelonjas, junio de 2026</a:t>
            </a:r>
            <a:endParaRPr/>
          </a:p>
        </p:txBody>
      </p:sp>
      <p:sp>
        <p:nvSpPr>
          <p:cNvPr id="673" name="Google Shape;673;p4"/>
          <p:cNvSpPr/>
          <p:nvPr/>
        </p:nvSpPr>
        <p:spPr>
          <a:xfrm>
            <a:off x="603504" y="3840480"/>
            <a:ext cx="4754880" cy="1920240"/>
          </a:xfrm>
          <a:prstGeom prst="roundRect">
            <a:avLst>
              <a:gd fmla="val 7000" name="adj"/>
            </a:avLst>
          </a:prstGeom>
          <a:solidFill>
            <a:srgbClr val="56077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"/>
          <p:cNvSpPr txBox="1"/>
          <p:nvPr/>
        </p:nvSpPr>
        <p:spPr>
          <a:xfrm>
            <a:off x="877824" y="3840480"/>
            <a:ext cx="42062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Hoy, pagar la administración termina en un pantallazo por WhatsApp y una conciliación manual que puede dejar en mora a quien ya pagó.</a:t>
            </a:r>
            <a:endParaRPr/>
          </a:p>
        </p:txBody>
      </p:sp>
      <p:sp>
        <p:nvSpPr>
          <p:cNvPr id="675" name="Google Shape;675;p4"/>
          <p:cNvSpPr/>
          <p:nvPr/>
        </p:nvSpPr>
        <p:spPr>
          <a:xfrm>
            <a:off x="5760720" y="1417320"/>
            <a:ext cx="5824728" cy="950976"/>
          </a:xfrm>
          <a:prstGeom prst="roundRect">
            <a:avLst>
              <a:gd fmla="val 12000" name="adj"/>
            </a:avLst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"/>
          <p:cNvSpPr/>
          <p:nvPr/>
        </p:nvSpPr>
        <p:spPr>
          <a:xfrm>
            <a:off x="5961888" y="1664208"/>
            <a:ext cx="457200" cy="457200"/>
          </a:xfrm>
          <a:prstGeom prst="ellipse">
            <a:avLst/>
          </a:prstGeom>
          <a:solidFill>
            <a:srgbClr val="FFA91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!</a:t>
            </a:r>
            <a:endParaRPr/>
          </a:p>
        </p:txBody>
      </p:sp>
      <p:sp>
        <p:nvSpPr>
          <p:cNvPr id="677" name="Google Shape;677;p4"/>
          <p:cNvSpPr txBox="1"/>
          <p:nvPr/>
        </p:nvSpPr>
        <p:spPr>
          <a:xfrm>
            <a:off x="6629400" y="1527048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El residente paga a ciegas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E5384"/>
                </a:solidFill>
                <a:latin typeface="Poppins"/>
                <a:ea typeface="Poppins"/>
                <a:cs typeface="Poppins"/>
                <a:sym typeface="Poppins"/>
              </a:rPr>
              <a:t>Escribe a mano monto y referencia, y guarda un pantallazo como única prueba.</a:t>
            </a:r>
            <a:endParaRPr/>
          </a:p>
        </p:txBody>
      </p:sp>
      <p:sp>
        <p:nvSpPr>
          <p:cNvPr id="678" name="Google Shape;678;p4"/>
          <p:cNvSpPr/>
          <p:nvPr/>
        </p:nvSpPr>
        <p:spPr>
          <a:xfrm>
            <a:off x="5760720" y="2514600"/>
            <a:ext cx="5824728" cy="950976"/>
          </a:xfrm>
          <a:prstGeom prst="roundRect">
            <a:avLst>
              <a:gd fmla="val 12000" name="adj"/>
            </a:avLst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4"/>
          <p:cNvSpPr/>
          <p:nvPr/>
        </p:nvSpPr>
        <p:spPr>
          <a:xfrm>
            <a:off x="5961888" y="2761488"/>
            <a:ext cx="457200" cy="457200"/>
          </a:xfrm>
          <a:prstGeom prst="ellipse">
            <a:avLst/>
          </a:prstGeom>
          <a:solidFill>
            <a:srgbClr val="FFA91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!</a:t>
            </a:r>
            <a:endParaRPr/>
          </a:p>
        </p:txBody>
      </p:sp>
      <p:sp>
        <p:nvSpPr>
          <p:cNvPr id="680" name="Google Shape;680;p4"/>
          <p:cNvSpPr txBox="1"/>
          <p:nvPr/>
        </p:nvSpPr>
        <p:spPr>
          <a:xfrm>
            <a:off x="6629400" y="2624328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El administrador concilia a mano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E5384"/>
                </a:solidFill>
                <a:latin typeface="Poppins"/>
                <a:ea typeface="Poppins"/>
                <a:cs typeface="Poppins"/>
                <a:sym typeface="Poppins"/>
              </a:rPr>
              <a:t>Espera el extracto del banco y cruza pago por pago en Excel.</a:t>
            </a:r>
            <a:endParaRPr/>
          </a:p>
        </p:txBody>
      </p:sp>
      <p:sp>
        <p:nvSpPr>
          <p:cNvPr id="681" name="Google Shape;681;p4"/>
          <p:cNvSpPr/>
          <p:nvPr/>
        </p:nvSpPr>
        <p:spPr>
          <a:xfrm>
            <a:off x="5760720" y="3611880"/>
            <a:ext cx="5824728" cy="950976"/>
          </a:xfrm>
          <a:prstGeom prst="roundRect">
            <a:avLst>
              <a:gd fmla="val 12000" name="adj"/>
            </a:avLst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"/>
          <p:cNvSpPr/>
          <p:nvPr/>
        </p:nvSpPr>
        <p:spPr>
          <a:xfrm>
            <a:off x="5961888" y="3858768"/>
            <a:ext cx="457200" cy="457200"/>
          </a:xfrm>
          <a:prstGeom prst="ellipse">
            <a:avLst/>
          </a:prstGeom>
          <a:solidFill>
            <a:srgbClr val="FFA91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!</a:t>
            </a:r>
            <a:endParaRPr/>
          </a:p>
        </p:txBody>
      </p:sp>
      <p:sp>
        <p:nvSpPr>
          <p:cNvPr id="683" name="Google Shape;683;p4"/>
          <p:cNvSpPr txBox="1"/>
          <p:nvPr/>
        </p:nvSpPr>
        <p:spPr>
          <a:xfrm>
            <a:off x="6629400" y="3721608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El error lo paga quien sí pagó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E5384"/>
                </a:solidFill>
                <a:latin typeface="Poppins"/>
                <a:ea typeface="Poppins"/>
                <a:cs typeface="Poppins"/>
                <a:sym typeface="Poppins"/>
              </a:rPr>
              <a:t>Un pago sin identificar deja la cuota en mora y genera intereses.</a:t>
            </a:r>
            <a:endParaRPr/>
          </a:p>
        </p:txBody>
      </p:sp>
      <p:sp>
        <p:nvSpPr>
          <p:cNvPr id="684" name="Google Shape;684;p4"/>
          <p:cNvSpPr/>
          <p:nvPr/>
        </p:nvSpPr>
        <p:spPr>
          <a:xfrm>
            <a:off x="5760720" y="4709159"/>
            <a:ext cx="5824728" cy="950976"/>
          </a:xfrm>
          <a:prstGeom prst="roundRect">
            <a:avLst>
              <a:gd fmla="val 12000" name="adj"/>
            </a:avLst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"/>
          <p:cNvSpPr/>
          <p:nvPr/>
        </p:nvSpPr>
        <p:spPr>
          <a:xfrm>
            <a:off x="5961888" y="4956048"/>
            <a:ext cx="457200" cy="457200"/>
          </a:xfrm>
          <a:prstGeom prst="ellipse">
            <a:avLst/>
          </a:prstGeom>
          <a:solidFill>
            <a:srgbClr val="FFA91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!</a:t>
            </a:r>
            <a:endParaRPr/>
          </a:p>
        </p:txBody>
      </p:sp>
      <p:sp>
        <p:nvSpPr>
          <p:cNvPr id="686" name="Google Shape;686;p4"/>
          <p:cNvSpPr txBox="1"/>
          <p:nvPr/>
        </p:nvSpPr>
        <p:spPr>
          <a:xfrm>
            <a:off x="6629400" y="4818888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VIS y VIP, los más golpeados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E5384"/>
                </a:solidFill>
                <a:latin typeface="Poppins"/>
                <a:ea typeface="Poppins"/>
                <a:cs typeface="Poppins"/>
                <a:sym typeface="Poppins"/>
              </a:rPr>
              <a:t>No pueden pagar convenios de recaudo ni software de conciliación.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3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rPr>
              <a:t>Para quienes concilian pagos cada mes, esto es un dolor de cabeza</a:t>
            </a:r>
            <a:endParaRPr/>
          </a:p>
        </p:txBody>
      </p:sp>
      <p:sp>
        <p:nvSpPr>
          <p:cNvPr id="693" name="Google Shape;693;p3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ASÍ SE PAGA LA ADMINISTRACIÓN HOY</a:t>
            </a:r>
            <a:endParaRPr/>
          </a:p>
        </p:txBody>
      </p:sp>
      <p:pic>
        <p:nvPicPr>
          <p:cNvPr descr="proceso_marca.png" id="694" name="Google Shape;69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504" y="1417320"/>
            <a:ext cx="10972800" cy="4389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5"/>
          <p:cNvSpPr txBox="1"/>
          <p:nvPr>
            <p:ph idx="2" type="body"/>
          </p:nvPr>
        </p:nvSpPr>
        <p:spPr>
          <a:xfrm>
            <a:off x="1516225" y="1614500"/>
            <a:ext cx="9155700" cy="29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/>
              <a:t>Pagaste a tiempo. Pero para tu conjunto, sigues debiendo.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6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rPr>
              <a:t>Dos personas, un mismo pago</a:t>
            </a:r>
            <a:endParaRPr/>
          </a:p>
        </p:txBody>
      </p:sp>
      <p:sp>
        <p:nvSpPr>
          <p:cNvPr id="706" name="Google Shape;706;p6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EL USUARIO</a:t>
            </a:r>
            <a:endParaRPr/>
          </a:p>
        </p:txBody>
      </p:sp>
      <p:sp>
        <p:nvSpPr>
          <p:cNvPr id="707" name="Google Shape;707;p6"/>
          <p:cNvSpPr/>
          <p:nvPr/>
        </p:nvSpPr>
        <p:spPr>
          <a:xfrm>
            <a:off x="603504" y="1417320"/>
            <a:ext cx="5349240" cy="3246120"/>
          </a:xfrm>
          <a:prstGeom prst="roundRect">
            <a:avLst>
              <a:gd fmla="val 6000" name="adj"/>
            </a:avLst>
          </a:prstGeom>
          <a:solidFill>
            <a:srgbClr val="56077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6"/>
          <p:cNvSpPr txBox="1"/>
          <p:nvPr/>
        </p:nvSpPr>
        <p:spPr>
          <a:xfrm>
            <a:off x="969264" y="1417320"/>
            <a:ext cx="4617720" cy="3246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A91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QUIÉN PAGA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Propietario o residente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A91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HOY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6D9F0"/>
                </a:solidFill>
                <a:latin typeface="Poppins"/>
                <a:ea typeface="Poppins"/>
                <a:cs typeface="Poppins"/>
                <a:sym typeface="Poppins"/>
              </a:rPr>
              <a:t>Paga, manda un pantallazo y espera que alguien confirme. Si el pago se pierde, queda en mora.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A91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CON AL DÍA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Escanea un QR, autoriza en su billetera y recibe la confirmación al instante.</a:t>
            </a:r>
            <a:endParaRPr/>
          </a:p>
        </p:txBody>
      </p:sp>
      <p:sp>
        <p:nvSpPr>
          <p:cNvPr id="709" name="Google Shape;709;p6"/>
          <p:cNvSpPr/>
          <p:nvPr/>
        </p:nvSpPr>
        <p:spPr>
          <a:xfrm>
            <a:off x="6236208" y="1417320"/>
            <a:ext cx="5349240" cy="3246120"/>
          </a:xfrm>
          <a:prstGeom prst="roundRect">
            <a:avLst>
              <a:gd fmla="val 6000" name="adj"/>
            </a:avLst>
          </a:prstGeom>
          <a:solidFill>
            <a:srgbClr val="00E5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6"/>
          <p:cNvSpPr txBox="1"/>
          <p:nvPr/>
        </p:nvSpPr>
        <p:spPr>
          <a:xfrm>
            <a:off x="6601968" y="1417320"/>
            <a:ext cx="4617720" cy="3246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QUIÉN COBRA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Administrador del conjunto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HOY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B4A40"/>
                </a:solidFill>
                <a:latin typeface="Poppins"/>
                <a:ea typeface="Poppins"/>
                <a:cs typeface="Poppins"/>
                <a:sym typeface="Poppins"/>
              </a:rPr>
              <a:t>Recibe soportes por WhatsApp y concilia contra el extracto días después.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CON AL DÍA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Ve cada pago identificado por torre, apartamento y mes en un panel en vivo.</a:t>
            </a:r>
            <a:endParaRPr/>
          </a:p>
        </p:txBody>
      </p:sp>
      <p:sp>
        <p:nvSpPr>
          <p:cNvPr id="711" name="Google Shape;711;p6"/>
          <p:cNvSpPr/>
          <p:nvPr/>
        </p:nvSpPr>
        <p:spPr>
          <a:xfrm>
            <a:off x="603504" y="4937760"/>
            <a:ext cx="10981944" cy="566928"/>
          </a:xfrm>
          <a:prstGeom prst="roundRect">
            <a:avLst>
              <a:gd fmla="val 50000" name="adj"/>
            </a:avLst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6"/>
          <p:cNvSpPr txBox="1"/>
          <p:nvPr/>
        </p:nvSpPr>
        <p:spPr>
          <a:xfrm>
            <a:off x="914400" y="4937760"/>
            <a:ext cx="10424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Foco del piloto: </a:t>
            </a:r>
            <a:r>
              <a:rPr b="0" i="0" lang="en-US" sz="1400" u="none" cap="none" strike="noStrike">
                <a:solidFill>
                  <a:srgbClr val="560777"/>
                </a:solidFill>
                <a:latin typeface="Poppins"/>
                <a:ea typeface="Poppins"/>
                <a:cs typeface="Poppins"/>
                <a:sym typeface="Poppins"/>
              </a:rPr>
              <a:t>conjuntos VIS y VIP del Valle de Aburrá sin presupuesto para convenios de recaudo.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7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/>
              <a:t>Con Al Día, el propietario paga y el administrador lo ve al instante. Los dos quedan al día.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11"/>
          <p:cNvSpPr txBox="1"/>
          <p:nvPr>
            <p:ph idx="1" type="body"/>
          </p:nvPr>
        </p:nvSpPr>
        <p:spPr>
          <a:xfrm>
            <a:off x="6505625" y="1814321"/>
            <a:ext cx="4946100" cy="22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US"/>
              <a:t>DEMO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US"/>
              <a:t>EN VIVO</a:t>
            </a:r>
            <a:endParaRPr/>
          </a:p>
        </p:txBody>
      </p:sp>
      <p:sp>
        <p:nvSpPr>
          <p:cNvPr id="723" name="Google Shape;723;p11"/>
          <p:cNvSpPr/>
          <p:nvPr/>
        </p:nvSpPr>
        <p:spPr>
          <a:xfrm>
            <a:off x="9372600" y="1691640"/>
            <a:ext cx="1965960" cy="196596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1"/>
          <p:cNvSpPr txBox="1"/>
          <p:nvPr/>
        </p:nvSpPr>
        <p:spPr>
          <a:xfrm>
            <a:off x="8887968" y="3767328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Escanea y paga una cuota de prueba</a:t>
            </a:r>
            <a:endParaRPr/>
          </a:p>
        </p:txBody>
      </p:sp>
      <p:pic>
        <p:nvPicPr>
          <p:cNvPr id="725" name="Google Shape;72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1332" y="1814321"/>
            <a:ext cx="1779351" cy="1779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12"/>
          <p:cNvSpPr txBox="1"/>
          <p:nvPr>
            <p:ph idx="1" type="body"/>
          </p:nvPr>
        </p:nvSpPr>
        <p:spPr>
          <a:xfrm>
            <a:off x="6082625" y="1010298"/>
            <a:ext cx="5329200" cy="3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00"/>
              <a:t>Un conjunto VIS no debería pagar más por cobrar su administración que lo que paga por cuidarla.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13"/>
          <p:cNvSpPr txBox="1"/>
          <p:nvPr/>
        </p:nvSpPr>
        <p:spPr>
          <a:xfrm>
            <a:off x="2926080" y="3794760"/>
            <a:ext cx="6309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Equipo Infinidata · Al Día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616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48156E"/>
      </a:accent1>
      <a:accent2>
        <a:srgbClr val="FFB259"/>
      </a:accent2>
      <a:accent3>
        <a:srgbClr val="959FF9"/>
      </a:accent3>
      <a:accent4>
        <a:srgbClr val="7EDFC8"/>
      </a:accent4>
      <a:accent5>
        <a:srgbClr val="747474"/>
      </a:accent5>
      <a:accent6>
        <a:srgbClr val="D8D8D8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