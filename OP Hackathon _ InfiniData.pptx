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9" r:id="rId6"/>
    <p:sldId id="268" r:id="rId7"/>
    <p:sldId id="260" r:id="rId8"/>
    <p:sldId id="269" r:id="rId9"/>
    <p:sldId id="270" r:id="rId10"/>
    <p:sldId id="271" r:id="rId11"/>
    <p:sldId id="262" r:id="rId12"/>
    <p:sldId id="263" r:id="rId13"/>
    <p:sldId id="264" r:id="rId14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</p:embeddedFont>
    <p:embeddedFont>
      <p:font typeface="Poppins Black" panose="00000A00000000000000" pitchFamily="2" charset="0"/>
      <p:bold r:id="rId18"/>
    </p:embeddedFont>
    <p:embeddedFont>
      <p:font typeface="Poppins ExtraBold" panose="00000900000000000000" pitchFamily="2" charset="0"/>
      <p:bold r:id="rId19"/>
    </p:embeddedFont>
    <p:embeddedFont>
      <p:font typeface="Poppins Light" panose="00000400000000000000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b78c62db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Somos Infinidata y presentamos Al Día: pagos de administración con Open Payments e Interledger.</a:t>
            </a:r>
          </a:p>
        </p:txBody>
      </p:sp>
      <p:sp>
        <p:nvSpPr>
          <p:cNvPr id="645" name="Google Shape;645;g3fb78c62d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b68e58610_1_26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Presentar a cada integrante en una frase.</a:t>
            </a:r>
          </a:p>
        </p:txBody>
      </p:sp>
      <p:sp>
        <p:nvSpPr>
          <p:cNvPr id="653" name="Google Shape;653;g3fb68e58610_1_2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ciclo actual: siete pasos, dos personas y ninguna confirmación inmediata. El bucle naranja es el problema: el pago que no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61,7 % de los hogares de Medellín vive en propiedad horizontal. El dolor es el mismo para residente y administrador, y pega más fuerte en VIS y VIP.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Pausa. Dejar que la frase haga efecto.</a:t>
            </a:r>
          </a:p>
        </p:txBody>
      </p:sp>
      <p:sp>
        <p:nvSpPr>
          <p:cNvPr id="672" name="Google Shape;6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usuarios, un mismo pago. El piloto se enfoca en conjuntos VIS y VIP.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Esta es la promesa de Al Día.</a:t>
            </a:r>
          </a:p>
        </p:txBody>
      </p:sp>
      <p:sp>
        <p:nvSpPr>
          <p:cNvPr id="677" name="Google Shape;6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Cuatro pasos: consulta, QR, autorización en la billetera y confirmación. Sin convenio, sin comisión, sin conciliación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8 pasos del flujo de Open Payments dentro de Al Día. Recalcar: Al Día solo intercambia información; el dinero lo liquidan los proveedores de las billeteras por Interledger.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Cómo encaja en Inclusión, Innovación, Impacto y Comunidad. Las cifras del mercado son estimaciones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Mostrar la demo: consulta de cuota, QR, autorización en la billetera de prueba y confirmación en el panel del administrador.</a:t>
            </a:r>
          </a:p>
        </p:txBody>
      </p:sp>
      <p:sp>
        <p:nvSpPr>
          <p:cNvPr id="689" name="Google Shape;6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 con la frase y la invitación a probar Al Día.</a:t>
            </a:r>
          </a:p>
        </p:txBody>
      </p:sp>
      <p:sp>
        <p:nvSpPr>
          <p:cNvPr id="694" name="Google Shape;6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Gracias.</a:t>
            </a:r>
          </a:p>
        </p:txBody>
      </p:sp>
      <p:sp>
        <p:nvSpPr>
          <p:cNvPr id="699" name="Google Shape;6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://interledger.org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436201" y="1636170"/>
            <a:ext cx="5439809" cy="228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2"/>
          </p:nvPr>
        </p:nvSpPr>
        <p:spPr>
          <a:xfrm>
            <a:off x="656622" y="4032642"/>
            <a:ext cx="5219383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6" name="Google Shape;16;p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549322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2408168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>
            <a:off x="0" y="5218315"/>
            <a:ext cx="2600323" cy="385327"/>
            <a:chOff x="0" y="9303775"/>
            <a:chExt cx="8073390" cy="1196350"/>
          </a:xfrm>
        </p:grpSpPr>
        <p:sp>
          <p:nvSpPr>
            <p:cNvPr id="21" name="Google Shape;21;p2"/>
            <p:cNvSpPr/>
            <p:nvPr/>
          </p:nvSpPr>
          <p:spPr>
            <a:xfrm>
              <a:off x="0" y="9303775"/>
              <a:ext cx="6877684" cy="1196340"/>
            </a:xfrm>
            <a:custGeom>
              <a:avLst/>
              <a:gdLst/>
              <a:ahLst/>
              <a:cxnLst/>
              <a:rect l="l" t="t" r="r" b="b"/>
              <a:pathLst>
                <a:path w="6877684" h="1196340" extrusionOk="0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68770" y="9586588"/>
              <a:ext cx="6324600" cy="612140"/>
            </a:xfrm>
            <a:custGeom>
              <a:avLst/>
              <a:gdLst/>
              <a:ahLst/>
              <a:cxnLst/>
              <a:rect l="l" t="t" r="r" b="b"/>
              <a:pathLst>
                <a:path w="6324600" h="612140" extrusionOk="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w="6324600" h="612140" extrusionOk="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w="6324600" h="612140" extrusionOk="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w="6324600" h="612140" extrusionOk="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w="6324600" h="612140" extrusionOk="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w="6324600" h="612140" extrusionOk="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w="6324600" h="612140" extrusionOk="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w="6324600" h="612140" extrusionOk="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w="6324600" h="612140" extrusionOk="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w="6324600" h="612140" extrusionOk="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w="6324600" h="612140" extrusionOk="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w="6324600" h="612140" extrusionOk="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877050" y="9303785"/>
              <a:ext cx="1196340" cy="1196340"/>
            </a:xfrm>
            <a:custGeom>
              <a:avLst/>
              <a:gdLst/>
              <a:ahLst/>
              <a:cxnLst/>
              <a:rect l="l" t="t" r="r" b="b"/>
              <a:pathLst>
                <a:path w="1196340" h="1196340" extrusionOk="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6338369" y="198227"/>
            <a:ext cx="5098934" cy="5117897"/>
          </a:xfrm>
          <a:custGeom>
            <a:avLst/>
            <a:gdLst/>
            <a:ahLst/>
            <a:cxnLst/>
            <a:rect l="l" t="t" r="r" b="b"/>
            <a:pathLst>
              <a:path w="7000240" h="7026275" extrusionOk="0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oogle Shape;25;p2"/>
          <p:cNvGrpSpPr/>
          <p:nvPr/>
        </p:nvGrpSpPr>
        <p:grpSpPr>
          <a:xfrm>
            <a:off x="6512282" y="485759"/>
            <a:ext cx="5679715" cy="5117897"/>
            <a:chOff x="6512282" y="198234"/>
            <a:chExt cx="5679715" cy="5117897"/>
          </a:xfrm>
        </p:grpSpPr>
        <p:sp>
          <p:nvSpPr>
            <p:cNvPr id="26" name="Google Shape;26;p2"/>
            <p:cNvSpPr/>
            <p:nvPr/>
          </p:nvSpPr>
          <p:spPr>
            <a:xfrm flipH="1">
              <a:off x="6512282" y="198234"/>
              <a:ext cx="4925023" cy="5117897"/>
            </a:xfrm>
            <a:custGeom>
              <a:avLst/>
              <a:gdLst/>
              <a:ahLst/>
              <a:cxnLst/>
              <a:rect l="l" t="t" r="r" b="b"/>
              <a:pathLst>
                <a:path w="6761480" h="7026275" extrusionOk="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w="6761480" h="7026275" extrusionOk="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w="6761480" h="7026275" extrusionOk="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11437148" y="198234"/>
              <a:ext cx="754849" cy="5114660"/>
            </a:xfrm>
            <a:custGeom>
              <a:avLst/>
              <a:gdLst/>
              <a:ahLst/>
              <a:cxnLst/>
              <a:rect l="l" t="t" r="r" b="b"/>
              <a:pathLst>
                <a:path w="1036319" h="7021830" extrusionOk="0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w="1036319" h="7021830" extrusionOk="0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w="1036319" h="7021830" extrusionOk="0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w="1036319" h="7021830" extrusionOk="0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w="1036319" h="7021830" extrusionOk="0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w="1036319" h="7021830" extrusionOk="0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w="1036319" h="7021830" extrusionOk="0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w="1036319" h="7021830" extrusionOk="0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w="1036319" h="7021830" extrusionOk="0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w="1036319" h="7021830" extrusionOk="0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w="1036319" h="7021830" extrusionOk="0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w="1036319" h="7021830" extrusionOk="0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w="1036319" h="7021830" extrusionOk="0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w="1036319" h="7021830" extrusionOk="0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" name="Google Shape;28;p2"/>
          <p:cNvSpPr txBox="1"/>
          <p:nvPr/>
        </p:nvSpPr>
        <p:spPr>
          <a:xfrm>
            <a:off x="7989100" y="6007900"/>
            <a:ext cx="34482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>
            <a:spLocks noGrp="1"/>
          </p:cNvSpPr>
          <p:nvPr>
            <p:ph type="pic" idx="3"/>
          </p:nvPr>
        </p:nvSpPr>
        <p:spPr>
          <a:xfrm>
            <a:off x="401921" y="1491414"/>
            <a:ext cx="4320000" cy="4320000"/>
          </a:xfrm>
          <a:prstGeom prst="roundRect">
            <a:avLst>
              <a:gd name="adj" fmla="val 188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3"/>
          <p:cNvSpPr txBox="1">
            <a:spLocks noGrp="1"/>
          </p:cNvSpPr>
          <p:nvPr>
            <p:ph type="body" idx="4"/>
          </p:nvPr>
        </p:nvSpPr>
        <p:spPr>
          <a:xfrm>
            <a:off x="5688471" y="180099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5"/>
          </p:nvPr>
        </p:nvSpPr>
        <p:spPr>
          <a:xfrm>
            <a:off x="5688471" y="260873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6"/>
          </p:nvPr>
        </p:nvSpPr>
        <p:spPr>
          <a:xfrm>
            <a:off x="5688471" y="341647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7"/>
          </p:nvPr>
        </p:nvSpPr>
        <p:spPr>
          <a:xfrm>
            <a:off x="5688471" y="422421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8"/>
          </p:nvPr>
        </p:nvSpPr>
        <p:spPr>
          <a:xfrm>
            <a:off x="5688471" y="503195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38" name="Google Shape;38;p3"/>
          <p:cNvCxnSpPr/>
          <p:nvPr/>
        </p:nvCxnSpPr>
        <p:spPr>
          <a:xfrm rot="10800000">
            <a:off x="5242644" y="2439113"/>
            <a:ext cx="5836692" cy="1"/>
          </a:xfrm>
          <a:prstGeom prst="straightConnector1">
            <a:avLst/>
          </a:prstGeom>
          <a:noFill/>
          <a:ln w="9525" cap="flat" cmpd="sng">
            <a:solidFill>
              <a:schemeClr val="accent1">
                <a:alpha val="80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3"/>
          <p:cNvCxnSpPr/>
          <p:nvPr/>
        </p:nvCxnSpPr>
        <p:spPr>
          <a:xfrm rot="10800000">
            <a:off x="5242644" y="3247312"/>
            <a:ext cx="5836692" cy="1"/>
          </a:xfrm>
          <a:prstGeom prst="straightConnector1">
            <a:avLst/>
          </a:prstGeom>
          <a:noFill/>
          <a:ln w="9525" cap="flat" cmpd="sng">
            <a:solidFill>
              <a:schemeClr val="accent1">
                <a:alpha val="80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3"/>
          <p:cNvCxnSpPr/>
          <p:nvPr/>
        </p:nvCxnSpPr>
        <p:spPr>
          <a:xfrm rot="10800000">
            <a:off x="5242644" y="4055513"/>
            <a:ext cx="5836692" cy="1"/>
          </a:xfrm>
          <a:prstGeom prst="straightConnector1">
            <a:avLst/>
          </a:prstGeom>
          <a:noFill/>
          <a:ln w="9525" cap="flat" cmpd="sng">
            <a:solidFill>
              <a:schemeClr val="accent1">
                <a:alpha val="80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1" name="Google Shape;41;p3"/>
          <p:cNvCxnSpPr/>
          <p:nvPr/>
        </p:nvCxnSpPr>
        <p:spPr>
          <a:xfrm rot="10800000">
            <a:off x="5242644" y="4863714"/>
            <a:ext cx="5836692" cy="1"/>
          </a:xfrm>
          <a:prstGeom prst="straightConnector1">
            <a:avLst/>
          </a:prstGeom>
          <a:noFill/>
          <a:ln w="9525" cap="flat" cmpd="sng">
            <a:solidFill>
              <a:schemeClr val="accent1">
                <a:alpha val="80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" name="Google Shape;42;p3"/>
          <p:cNvSpPr txBox="1">
            <a:spLocks noGrp="1"/>
          </p:cNvSpPr>
          <p:nvPr>
            <p:ph type="body" idx="9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3" descr="Arrow: Straight with solid fill"/>
          <p:cNvSpPr/>
          <p:nvPr/>
        </p:nvSpPr>
        <p:spPr>
          <a:xfrm flipH="1">
            <a:off x="5264386" y="185917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3" descr="Arrow: Straight with solid fill"/>
          <p:cNvSpPr/>
          <p:nvPr/>
        </p:nvSpPr>
        <p:spPr>
          <a:xfrm flipH="1">
            <a:off x="5264386" y="266691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3" descr="Arrow: Straight with solid fill"/>
          <p:cNvSpPr/>
          <p:nvPr/>
        </p:nvSpPr>
        <p:spPr>
          <a:xfrm flipH="1">
            <a:off x="5264386" y="3473732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3" descr="Arrow: Straight with solid fill"/>
          <p:cNvSpPr/>
          <p:nvPr/>
        </p:nvSpPr>
        <p:spPr>
          <a:xfrm flipH="1">
            <a:off x="5264386" y="428239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3" descr="Arrow: Straight with solid fill"/>
          <p:cNvSpPr/>
          <p:nvPr/>
        </p:nvSpPr>
        <p:spPr>
          <a:xfrm flipH="1">
            <a:off x="5264386" y="5084003"/>
            <a:ext cx="355363" cy="355363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3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" name="Google Shape;55;p3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" name="Google Shape;60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3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3" name="Google Shape;63;p3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2" name="Google Shape;72;p3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3" name="Google Shape;73;p3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" name="Google Shape;82;p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3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" name="Google Shape;85;p3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86" name="Google Shape;86;p3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9" name="Google Shape;89;p3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3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5" name="Google Shape;95;p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" name="Google Shape;96;p3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1" name="Google Shape;101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" name="Google Shape;102;p3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8" name="Google Shape;108;p3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1" name="Google Shape;111;p3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8" name="Google Shape;118;p3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" name="Google Shape;121;p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3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8" name="Google Shape;128;p3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3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body" idx="2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3"/>
          </p:nvPr>
        </p:nvSpPr>
        <p:spPr>
          <a:xfrm>
            <a:off x="813514" y="2249093"/>
            <a:ext cx="3311918" cy="2719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3BA2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A3BA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4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body" idx="5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42" name="Google Shape;142;p4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4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53" name="Google Shape;153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4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65" name="Google Shape;165;p4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66" name="Google Shape;166;p4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75" name="Google Shape;175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4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8" name="Google Shape;178;p4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79" name="Google Shape;179;p4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2" name="Google Shape;182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4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8" name="Google Shape;188;p4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9" name="Google Shape;189;p4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94" name="Google Shape;194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4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1" name="Google Shape;201;p4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02" name="Google Shape;202;p4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04" name="Google Shape;204;p4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5" name="Google Shape;205;p4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06" name="Google Shape;206;p4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1" name="Google Shape;211;p4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212" name="Google Shape;212;p4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14" name="Google Shape;214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4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7" name="Google Shape;217;p4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1" name="Google Shape;221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4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24" name="Google Shape;224;p4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225" name="Google Shape;225;p4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7" name="Google Shape;227;p4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>
            <a:spLocks noGrp="1"/>
          </p:cNvSpPr>
          <p:nvPr>
            <p:ph type="body" idx="1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0" name="Google Shape;230;p5"/>
          <p:cNvSpPr txBox="1">
            <a:spLocks noGrp="1"/>
          </p:cNvSpPr>
          <p:nvPr>
            <p:ph type="body" idx="2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1" name="Google Shape;231;p5"/>
          <p:cNvSpPr txBox="1">
            <a:spLocks noGrp="1"/>
          </p:cNvSpPr>
          <p:nvPr>
            <p:ph type="body" idx="3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2" name="Google Shape;232;p5"/>
          <p:cNvSpPr txBox="1">
            <a:spLocks noGrp="1"/>
          </p:cNvSpPr>
          <p:nvPr>
            <p:ph type="body" idx="4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33" name="Google Shape;233;p5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234" name="Google Shape;234;p5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39" name="Google Shape;239;p5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5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45" name="Google Shape;245;p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" name="Google Shape;246;p5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54" name="Google Shape;254;p5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57" name="Google Shape;257;p5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58" name="Google Shape;258;p5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67" name="Google Shape;267;p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5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" name="Google Shape;270;p5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271" name="Google Shape;271;p5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74" name="Google Shape;274;p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5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" name="Google Shape;277;p5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0" name="Google Shape;280;p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" name="Google Shape;281;p5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282" name="Google Shape;282;p5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6" name="Google Shape;286;p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" name="Google Shape;287;p5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" name="Google Shape;293;p5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94" name="Google Shape;294;p5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96" name="Google Shape;296;p5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97" name="Google Shape;297;p5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3" name="Google Shape;303;p5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04" name="Google Shape;304;p5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06" name="Google Shape;306;p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" name="Google Shape;307;p5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9" name="Google Shape;309;p5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310" name="Google Shape;310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3" name="Google Shape;313;p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5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16" name="Google Shape;316;p5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317" name="Google Shape;317;p5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9" name="Google Shape;319;p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 1">
  <p:cSld name="9_Title Slide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"/>
          <p:cNvSpPr txBox="1">
            <a:spLocks noGrp="1"/>
          </p:cNvSpPr>
          <p:nvPr>
            <p:ph type="body" idx="1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2" name="Google Shape;322;p6"/>
          <p:cNvSpPr txBox="1">
            <a:spLocks noGrp="1"/>
          </p:cNvSpPr>
          <p:nvPr>
            <p:ph type="body" idx="2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3" name="Google Shape;323;p6"/>
          <p:cNvSpPr txBox="1">
            <a:spLocks noGrp="1"/>
          </p:cNvSpPr>
          <p:nvPr>
            <p:ph type="body" idx="3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4" name="Google Shape;324;p6"/>
          <p:cNvSpPr txBox="1">
            <a:spLocks noGrp="1"/>
          </p:cNvSpPr>
          <p:nvPr>
            <p:ph type="body" idx="4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325" name="Google Shape;325;p6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326" name="Google Shape;326;p6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327" name="Google Shape;327;p6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9" name="Google Shape;329;p6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1" name="Google Shape;331;p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2" name="Google Shape;332;p6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7" name="Google Shape;337;p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6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0" name="Google Shape;340;p6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341" name="Google Shape;341;p6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3" name="Google Shape;343;p6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4" name="Google Shape;344;p6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" name="Google Shape;346;p6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347" name="Google Shape;347;p6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49" name="Google Shape;349;p6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0" name="Google Shape;350;p6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351" name="Google Shape;351;p6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3" name="Google Shape;353;p6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" name="Google Shape;356;p6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357" name="Google Shape;357;p6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59" name="Google Shape;359;p6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6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" name="Google Shape;362;p6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363" name="Google Shape;363;p6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66" name="Google Shape;366;p6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6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" name="Google Shape;369;p6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370" name="Google Shape;370;p6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2" name="Google Shape;372;p6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3" name="Google Shape;373;p6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8" name="Google Shape;378;p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9" name="Google Shape;379;p6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380" name="Google Shape;380;p6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5" name="Google Shape;385;p6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386" name="Google Shape;386;p6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88" name="Google Shape;388;p6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9" name="Google Shape;389;p6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390" name="Google Shape;390;p6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5" name="Google Shape;395;p6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96" name="Google Shape;396;p6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98" name="Google Shape;398;p6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" name="Google Shape;399;p6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1" name="Google Shape;401;p6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402" name="Google Shape;402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05" name="Google Shape;405;p6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6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" name="Google Shape;408;p6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409" name="Google Shape;409;p6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11" name="Google Shape;411;p6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4" name="Google Shape;414;p7"/>
          <p:cNvGrpSpPr/>
          <p:nvPr/>
        </p:nvGrpSpPr>
        <p:grpSpPr>
          <a:xfrm>
            <a:off x="8337" y="435776"/>
            <a:ext cx="6964298" cy="5986447"/>
            <a:chOff x="8337" y="435776"/>
            <a:chExt cx="6964298" cy="5986447"/>
          </a:xfrm>
        </p:grpSpPr>
        <p:sp>
          <p:nvSpPr>
            <p:cNvPr id="415" name="Google Shape;415;p7"/>
            <p:cNvSpPr/>
            <p:nvPr/>
          </p:nvSpPr>
          <p:spPr>
            <a:xfrm>
              <a:off x="740405" y="435776"/>
              <a:ext cx="4945969" cy="4964471"/>
            </a:xfrm>
            <a:custGeom>
              <a:avLst/>
              <a:gdLst/>
              <a:ahLst/>
              <a:cxnLst/>
              <a:rect l="l" t="t" r="r" b="b"/>
              <a:pathLst>
                <a:path w="5771515" h="5793105" extrusionOk="0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740399" y="435781"/>
              <a:ext cx="4777276" cy="4964471"/>
            </a:xfrm>
            <a:custGeom>
              <a:avLst/>
              <a:gdLst/>
              <a:ahLst/>
              <a:cxnLst/>
              <a:rect l="l" t="t" r="r" b="b"/>
              <a:pathLst>
                <a:path w="5574665" h="5793105" extrusionOk="0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w="5574665" h="5793105" extrusionOk="0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w="5574665" h="5793105" extrusionOk="0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8346" y="5397005"/>
              <a:ext cx="5939080" cy="1025218"/>
            </a:xfrm>
            <a:custGeom>
              <a:avLst/>
              <a:gdLst/>
              <a:ahLst/>
              <a:cxnLst/>
              <a:rect l="l" t="t" r="r" b="b"/>
              <a:pathLst>
                <a:path w="6930390" h="1196340" extrusionOk="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284373" y="5639361"/>
              <a:ext cx="5419941" cy="524581"/>
            </a:xfrm>
            <a:custGeom>
              <a:avLst/>
              <a:gdLst/>
              <a:ahLst/>
              <a:cxnLst/>
              <a:rect l="l" t="t" r="r" b="b"/>
              <a:pathLst>
                <a:path w="6324600" h="612140" extrusionOk="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w="6324600" h="612140" extrusionOk="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w="6324600" h="612140" extrusionOk="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w="6324600" h="612140" extrusionOk="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w="6324600" h="612140" extrusionOk="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w="6324600" h="612140" extrusionOk="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w="6324600" h="612140" extrusionOk="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w="6324600" h="612140" extrusionOk="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w="6324600" h="612140" extrusionOk="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w="6324600" h="612140" extrusionOk="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w="6324600" h="612140" extrusionOk="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w="6324600" h="612140" extrusionOk="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337" y="435781"/>
              <a:ext cx="6964298" cy="5986423"/>
            </a:xfrm>
            <a:custGeom>
              <a:avLst/>
              <a:gdLst/>
              <a:ahLst/>
              <a:cxnLst/>
              <a:rect l="l" t="t" r="r" b="b"/>
              <a:pathLst>
                <a:path w="8126730" h="6985634" extrusionOk="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w="8126730" h="6985634" extrusionOk="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w="8126730" h="6985634" extrusionOk="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w="8126730" h="6985634" extrusionOk="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w="8126730" h="6985634" extrusionOk="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w="8126730" h="6985634" extrusionOk="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w="8126730" h="6985634" extrusionOk="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w="8126730" h="6985634" extrusionOk="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w="8126730" h="6985634" extrusionOk="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w="8126730" h="6985634" extrusionOk="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w="8126730" h="6985634" extrusionOk="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w="8126730" h="6985634" extrusionOk="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w="8126730" h="6985634" extrusionOk="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w="8126730" h="6985634" extrusionOk="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0" name="Google Shape;420;p7"/>
          <p:cNvSpPr txBox="1">
            <a:spLocks noGrp="1"/>
          </p:cNvSpPr>
          <p:nvPr>
            <p:ph type="body" idx="1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1" name="Google Shape;421;p7"/>
          <p:cNvSpPr txBox="1">
            <a:spLocks noGrp="1"/>
          </p:cNvSpPr>
          <p:nvPr>
            <p:ph type="body" idx="2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422" name="Google Shape;4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04775" y="5554397"/>
            <a:ext cx="2582976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rgbClr val="EA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5" name="Google Shape;425;p8"/>
          <p:cNvGrpSpPr/>
          <p:nvPr/>
        </p:nvGrpSpPr>
        <p:grpSpPr>
          <a:xfrm>
            <a:off x="8337" y="435776"/>
            <a:ext cx="6964298" cy="5986447"/>
            <a:chOff x="9728" y="1922335"/>
            <a:chExt cx="8126730" cy="6985662"/>
          </a:xfrm>
        </p:grpSpPr>
        <p:sp>
          <p:nvSpPr>
            <p:cNvPr id="426" name="Google Shape;426;p8"/>
            <p:cNvSpPr/>
            <p:nvPr/>
          </p:nvSpPr>
          <p:spPr>
            <a:xfrm>
              <a:off x="863988" y="1922335"/>
              <a:ext cx="5771515" cy="5793105"/>
            </a:xfrm>
            <a:custGeom>
              <a:avLst/>
              <a:gdLst/>
              <a:ahLst/>
              <a:cxnLst/>
              <a:rect l="l" t="t" r="r" b="b"/>
              <a:pathLst>
                <a:path w="5771515" h="5793105" extrusionOk="0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863981" y="1922341"/>
              <a:ext cx="5574665" cy="5793105"/>
            </a:xfrm>
            <a:custGeom>
              <a:avLst/>
              <a:gdLst/>
              <a:ahLst/>
              <a:cxnLst/>
              <a:rect l="l" t="t" r="r" b="b"/>
              <a:pathLst>
                <a:path w="5574665" h="5793105" extrusionOk="0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w="5574665" h="5793105" extrusionOk="0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w="5574665" h="5793105" extrusionOk="0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9738" y="7711657"/>
              <a:ext cx="6930390" cy="1196340"/>
            </a:xfrm>
            <a:custGeom>
              <a:avLst/>
              <a:gdLst/>
              <a:ahLst/>
              <a:cxnLst/>
              <a:rect l="l" t="t" r="r" b="b"/>
              <a:pathLst>
                <a:path w="6930390" h="1196340" extrusionOk="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331838" y="7994465"/>
              <a:ext cx="6324600" cy="612140"/>
            </a:xfrm>
            <a:custGeom>
              <a:avLst/>
              <a:gdLst/>
              <a:ahLst/>
              <a:cxnLst/>
              <a:rect l="l" t="t" r="r" b="b"/>
              <a:pathLst>
                <a:path w="6324600" h="612140" extrusionOk="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w="6324600" h="612140" extrusionOk="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w="6324600" h="612140" extrusionOk="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w="6324600" h="612140" extrusionOk="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w="6324600" h="612140" extrusionOk="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w="6324600" h="612140" extrusionOk="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w="6324600" h="612140" extrusionOk="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w="6324600" h="612140" extrusionOk="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w="6324600" h="612140" extrusionOk="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w="6324600" h="612140" extrusionOk="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w="6324600" h="612140" extrusionOk="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w="6324600" h="612140" extrusionOk="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9728" y="1922341"/>
              <a:ext cx="8126730" cy="6985634"/>
            </a:xfrm>
            <a:custGeom>
              <a:avLst/>
              <a:gdLst/>
              <a:ahLst/>
              <a:cxnLst/>
              <a:rect l="l" t="t" r="r" b="b"/>
              <a:pathLst>
                <a:path w="8126730" h="6985634" extrusionOk="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w="8126730" h="6985634" extrusionOk="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w="8126730" h="6985634" extrusionOk="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w="8126730" h="6985634" extrusionOk="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w="8126730" h="6985634" extrusionOk="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w="8126730" h="6985634" extrusionOk="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w="8126730" h="6985634" extrusionOk="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w="8126730" h="6985634" extrusionOk="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w="8126730" h="6985634" extrusionOk="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w="8126730" h="6985634" extrusionOk="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w="8126730" h="6985634" extrusionOk="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w="8126730" h="6985634" extrusionOk="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w="8126730" h="6985634" extrusionOk="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w="8126730" h="6985634" extrusionOk="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w="8126730" h="6985634" extrusionOk="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31" name="Google Shape;431;p8"/>
          <p:cNvSpPr txBox="1">
            <a:spLocks noGrp="1"/>
          </p:cNvSpPr>
          <p:nvPr>
            <p:ph type="body" idx="1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2" name="Google Shape;432;p8"/>
          <p:cNvSpPr txBox="1">
            <a:spLocks noGrp="1"/>
          </p:cNvSpPr>
          <p:nvPr>
            <p:ph type="body" idx="2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433" name="Google Shape;43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04858" y="5568090"/>
            <a:ext cx="2582893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9"/>
          <p:cNvSpPr txBox="1">
            <a:spLocks noGrp="1"/>
          </p:cNvSpPr>
          <p:nvPr>
            <p:ph type="body" idx="1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7" name="Google Shape;437;p9"/>
          <p:cNvSpPr txBox="1">
            <a:spLocks noGrp="1"/>
          </p:cNvSpPr>
          <p:nvPr>
            <p:ph type="body" idx="2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438" name="Google Shape;438;p9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39" name="Google Shape;439;p9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440" name="Google Shape;440;p9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3" name="Google Shape;443;p9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44" name="Google Shape;444;p9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5" name="Google Shape;445;p9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446" name="Google Shape;446;p9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7" name="Google Shape;447;p9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8" name="Google Shape;448;p9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50" name="Google Shape;450;p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9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2" name="Google Shape;452;p9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3" name="Google Shape;453;p9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454" name="Google Shape;454;p9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5" name="Google Shape;455;p9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8" name="Google Shape;458;p9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9" name="Google Shape;459;p9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460" name="Google Shape;460;p9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1" name="Google Shape;461;p9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462" name="Google Shape;462;p9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63" name="Google Shape;463;p9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464" name="Google Shape;464;p9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5" name="Google Shape;465;p9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8" name="Google Shape;468;p9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69" name="Google Shape;469;p9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2" name="Google Shape;472;p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3" name="Google Shape;473;p9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75" name="Google Shape;475;p9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476" name="Google Shape;476;p9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9" name="Google Shape;479;p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0" name="Google Shape;480;p9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2" name="Google Shape;482;p9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483" name="Google Shape;483;p9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85" name="Google Shape;485;p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6" name="Google Shape;486;p9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487" name="Google Shape;487;p9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91" name="Google Shape;491;p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2" name="Google Shape;492;p9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493" name="Google Shape;493;p9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98" name="Google Shape;498;p9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499" name="Google Shape;499;p9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1" name="Google Shape;501;p9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02" name="Google Shape;502;p9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03" name="Google Shape;503;p9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08" name="Google Shape;508;p9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509" name="Google Shape;509;p9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1" name="Google Shape;511;p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2" name="Google Shape;512;p9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8" name="Google Shape;518;p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9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21" name="Google Shape;521;p9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24" name="Google Shape;524;p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25" name="Google Shape;52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9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"/>
          <p:cNvSpPr txBox="1">
            <a:spLocks noGrp="1"/>
          </p:cNvSpPr>
          <p:nvPr>
            <p:ph type="body" idx="1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530" name="Google Shape;530;p10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531" name="Google Shape;531;p10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32" name="Google Shape;532;p10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avLst/>
                <a:gdLst/>
                <a:ahLst/>
                <a:cxnLst/>
                <a:rect l="l" t="t" r="r" b="b"/>
                <a:pathLst>
                  <a:path w="423545" h="423545" extrusionOk="0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 extrusionOk="0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 extrusionOk="0">
                    <a:moveTo>
                      <a:pt x="423379" y="38"/>
                    </a:move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 extrusionOk="0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3" name="Google Shape;533;p10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4" name="Google Shape;534;p10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5" name="Google Shape;535;p10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36" name="Google Shape;536;p10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7" name="Google Shape;537;p10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38" name="Google Shape;538;p10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9" name="Google Shape;539;p10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373379" extrusionOk="0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 extrusionOk="0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 extrusionOk="0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 extrusionOk="0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 extrusionOk="0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 extrusionOk="0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 extrusionOk="0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 extrusionOk="0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 extrusionOk="0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 extrusionOk="0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 extrusionOk="0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 extrusionOk="0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 extrusionOk="0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 extrusionOk="0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 extrusionOk="0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 extrusionOk="0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0" name="Google Shape;540;p10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1" name="Google Shape;541;p10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2" name="Google Shape;542;p1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3" name="Google Shape;543;p10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4" name="Google Shape;544;p10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45" name="Google Shape;545;p10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546" name="Google Shape;546;p10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7" name="Google Shape;547;p10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8" name="Google Shape;548;p10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9" name="Google Shape;549;p10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0" name="Google Shape;550;p10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51" name="Google Shape;551;p10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552" name="Google Shape;552;p10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30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3" name="Google Shape;553;p10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54" name="Google Shape;554;p10"/>
            <p:cNvSpPr/>
            <p:nvPr/>
          </p:nvSpPr>
          <p:spPr>
            <a:xfrm>
              <a:off x="6796786" y="10691450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 extrusionOk="0">
                  <a:moveTo>
                    <a:pt x="435978" y="101"/>
                  </a:moveTo>
                  <a:close/>
                </a:path>
                <a:path w="436245" h="434975" extrusionOk="0">
                  <a:moveTo>
                    <a:pt x="435978" y="50"/>
                  </a:move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8" name="Google Shape;558;p10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9" name="Google Shape;559;p10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0" name="Google Shape;560;p10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89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1" name="Google Shape;561;p10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562" name="Google Shape;562;p10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39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3" name="Google Shape;563;p10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64" name="Google Shape;564;p1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5" name="Google Shape;565;p10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4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7" name="Google Shape;567;p10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568" name="Google Shape;568;p10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9" name="Google Shape;569;p10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1" name="Google Shape;571;p1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2" name="Google Shape;572;p10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3" name="Google Shape;573;p10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74" name="Google Shape;574;p10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575" name="Google Shape;575;p10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6" name="Google Shape;576;p10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4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7" name="Google Shape;577;p1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8" name="Google Shape;578;p10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579" name="Google Shape;579;p10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34975" extrusionOk="0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0" name="Google Shape;580;p10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73379" extrusionOk="0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 extrusionOk="0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 extrusionOk="0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 extrusionOk="0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 extrusionOk="0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 extrusionOk="0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 extrusionOk="0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 extrusionOk="0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 extrusionOk="0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 extrusionOk="0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 extrusionOk="0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 extrusionOk="0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 extrusionOk="0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 extrusionOk="0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 extrusionOk="0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 extrusionOk="0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1" name="Google Shape;581;p10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2" name="Google Shape;582;p10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83" name="Google Shape;583;p1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4" name="Google Shape;584;p10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585" name="Google Shape;585;p10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6" name="Google Shape;586;p10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 extrusionOk="0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 extrusionOk="0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0" name="Google Shape;590;p10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591" name="Google Shape;591;p10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2" name="Google Shape;592;p10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93" name="Google Shape;593;p10"/>
            <p:cNvSpPr/>
            <p:nvPr/>
          </p:nvSpPr>
          <p:spPr>
            <a:xfrm>
              <a:off x="12654560" y="10691450"/>
              <a:ext cx="436244" cy="434975"/>
            </a:xfrm>
            <a:custGeom>
              <a:avLst/>
              <a:gdLst/>
              <a:ahLst/>
              <a:cxnLst/>
              <a:rect l="l" t="t" r="r" b="b"/>
              <a:pathLst>
                <a:path w="436244" h="434975" extrusionOk="0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 extrusionOk="0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 extrusionOk="0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 extrusionOk="0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 extrusionOk="0">
                  <a:moveTo>
                    <a:pt x="435978" y="101"/>
                  </a:moveTo>
                  <a:close/>
                </a:path>
                <a:path w="436244" h="434975" extrusionOk="0">
                  <a:moveTo>
                    <a:pt x="435978" y="50"/>
                  </a:move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 extrusionOk="0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 extrusionOk="0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94" name="Google Shape;594;p10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95" name="Google Shape;595;p10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6" name="Google Shape;596;p10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 extrusionOk="0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 extrusionOk="0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7" name="Google Shape;597;p10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8" name="Google Shape;598;p10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274320" extrusionOk="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9" name="Google Shape;599;p10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57479" extrusionOk="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0" name="Google Shape;600;p10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601" name="Google Shape;601;p10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340" h="434975" extrusionOk="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2" name="Google Shape;602;p10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306070" h="306070" extrusionOk="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3" name="Google Shape;603;p1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4" name="Google Shape;604;p10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5" name="Google Shape;605;p10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avLst/>
                <a:gdLst/>
                <a:ahLst/>
                <a:cxnLst/>
                <a:rect l="l" t="t" r="r" b="b"/>
                <a:pathLst>
                  <a:path w="113665" h="159384" extrusionOk="0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6" name="Google Shape;606;p10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607" name="Google Shape;607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8" name="Google Shape;608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9" name="Google Shape;609;p10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 extrusionOk="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0" name="Google Shape;610;p1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" name="Google Shape;611;p10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2" name="Google Shape;612;p10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434975" extrusionOk="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 extrusionOk="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13" name="Google Shape;613;p10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614" name="Google Shape;614;p10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434975" extrusionOk="0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5" name="Google Shape;615;p10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avLst/>
                <a:gdLst/>
                <a:ahLst/>
                <a:cxnLst/>
                <a:rect l="l" t="t" r="r" b="b"/>
                <a:pathLst>
                  <a:path w="316865" h="316865" extrusionOk="0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6" name="Google Shape;616;p1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1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4815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4043999" y="2761025"/>
            <a:ext cx="4095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4000" b="1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sz="4000" b="1">
              <a:solidFill>
                <a:srgbClr val="FFA8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11"/>
          <p:cNvSpPr txBox="1"/>
          <p:nvPr/>
        </p:nvSpPr>
        <p:spPr>
          <a:xfrm>
            <a:off x="6924350" y="5397300"/>
            <a:ext cx="476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750" b="1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https://interledger.org/es/</a:t>
            </a:r>
            <a:r>
              <a:rPr lang="en-MY" sz="1750" b="1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Hackathon</a:t>
            </a:r>
            <a:endParaRPr sz="1750" b="1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750" b="1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#OpenPayments </a:t>
            </a:r>
            <a:r>
              <a:rPr lang="en-MY" sz="1750" b="1">
                <a:solidFill>
                  <a:srgbClr val="FFA915"/>
                </a:solidFill>
                <a:latin typeface="Poppins"/>
                <a:ea typeface="Poppins"/>
                <a:cs typeface="Poppins"/>
                <a:sym typeface="Poppins"/>
              </a:rPr>
              <a:t>#ILPHacks</a:t>
            </a:r>
            <a:endParaRPr sz="1750" b="1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8346" y="5397298"/>
            <a:ext cx="5942809" cy="1025862"/>
          </a:xfrm>
          <a:custGeom>
            <a:avLst/>
            <a:gdLst/>
            <a:ahLst/>
            <a:cxnLst/>
            <a:rect l="l" t="t" r="r" b="b"/>
            <a:pathLst>
              <a:path w="6930390" h="1196340" extrusionOk="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284386" y="5639664"/>
            <a:ext cx="5423344" cy="524910"/>
          </a:xfrm>
          <a:custGeom>
            <a:avLst/>
            <a:gdLst/>
            <a:ahLst/>
            <a:cxnLst/>
            <a:rect l="l" t="t" r="r" b="b"/>
            <a:pathLst>
              <a:path w="6324600" h="612140" extrusionOk="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w="6324600" h="612140" extrusionOk="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w="6324600" h="612140" extrusionOk="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w="6324600" h="612140" extrusionOk="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w="6324600" h="612140" extrusionOk="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w="6324600" h="612140" extrusionOk="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w="6324600" h="612140" extrusionOk="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w="6324600" h="612140" extrusionOk="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w="6324600" h="612140" extrusionOk="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w="6324600" h="612140" extrusionOk="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w="6324600" h="612140" extrusionOk="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w="6324600" h="612140" extrusionOk="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8337" y="435854"/>
            <a:ext cx="6968671" cy="5990181"/>
          </a:xfrm>
          <a:custGeom>
            <a:avLst/>
            <a:gdLst/>
            <a:ahLst/>
            <a:cxnLst/>
            <a:rect l="l" t="t" r="r" b="b"/>
            <a:pathLst>
              <a:path w="8126730" h="6985634" extrusionOk="0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w="8126730" h="6985634" extrusionOk="0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w="8126730" h="6985634" extrusionOk="0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w="8126730" h="6985634" extrusionOk="0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w="8126730" h="6985634" extrusionOk="0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w="8126730" h="6985634" extrusionOk="0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w="8126730" h="6985634" extrusionOk="0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w="8126730" h="6985634" extrusionOk="0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w="8126730" h="6985634" extrusionOk="0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w="8126730" h="6985634" extrusionOk="0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w="8126730" h="6985634" extrusionOk="0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w="8126730" h="6985634" extrusionOk="0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w="8126730" h="6985634" extrusionOk="0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w="8126730" h="6985634" extrusionOk="0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w="8126730" h="6985634" extrusionOk="0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4" name="Google Shape;6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12"/>
          <p:cNvSpPr txBox="1">
            <a:spLocks noGrp="1"/>
          </p:cNvSpPr>
          <p:nvPr>
            <p:ph type="body" idx="1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8" name="Google Shape;628;p12"/>
          <p:cNvSpPr txBox="1">
            <a:spLocks noGrp="1"/>
          </p:cNvSpPr>
          <p:nvPr>
            <p:ph type="body" idx="2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629" name="Google Shape;629;p1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30" name="Google Shape;630;p12"/>
          <p:cNvSpPr txBox="1">
            <a:spLocks noGrp="1"/>
          </p:cNvSpPr>
          <p:nvPr>
            <p:ph type="body" idx="3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31" name="Google Shape;631;p12"/>
          <p:cNvSpPr txBox="1">
            <a:spLocks noGrp="1"/>
          </p:cNvSpPr>
          <p:nvPr>
            <p:ph type="body" idx="4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632" name="Google Shape;63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12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9303775"/>
              <a:ext cx="6877684" cy="1196340"/>
            </a:xfrm>
            <a:custGeom>
              <a:avLst/>
              <a:gdLst/>
              <a:ahLst/>
              <a:cxnLst/>
              <a:rect l="l" t="t" r="r" b="b"/>
              <a:pathLst>
                <a:path w="6877684" h="1196340" extrusionOk="0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268770" y="9586588"/>
              <a:ext cx="6324600" cy="612140"/>
            </a:xfrm>
            <a:custGeom>
              <a:avLst/>
              <a:gdLst/>
              <a:ahLst/>
              <a:cxnLst/>
              <a:rect l="l" t="t" r="r" b="b"/>
              <a:pathLst>
                <a:path w="6324600" h="612140" extrusionOk="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w="6324600" h="612140" extrusionOk="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w="6324600" h="612140" extrusionOk="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w="6324600" h="612140" extrusionOk="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w="6324600" h="612140" extrusionOk="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w="6324600" h="612140" extrusionOk="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w="6324600" h="612140" extrusionOk="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w="6324600" h="612140" extrusionOk="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w="6324600" h="612140" extrusionOk="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w="6324600" h="612140" extrusionOk="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w="6324600" h="612140" extrusionOk="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w="6324600" h="612140" extrusionOk="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6877050" y="9303785"/>
              <a:ext cx="1196340" cy="1196340"/>
            </a:xfrm>
            <a:custGeom>
              <a:avLst/>
              <a:gdLst/>
              <a:ahLst/>
              <a:cxnLst/>
              <a:rect l="l" t="t" r="r" b="b"/>
              <a:pathLst>
                <a:path w="1196340" h="1196340" extrusionOk="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w="1196340" h="1196340" extrusionOk="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7" name="Google Shape;637;p12"/>
          <p:cNvGrpSpPr/>
          <p:nvPr/>
        </p:nvGrpSpPr>
        <p:grpSpPr>
          <a:xfrm>
            <a:off x="6344628" y="487055"/>
            <a:ext cx="5847372" cy="5116588"/>
            <a:chOff x="6344628" y="928827"/>
            <a:chExt cx="5847372" cy="5116588"/>
          </a:xfrm>
        </p:grpSpPr>
        <p:sp>
          <p:nvSpPr>
            <p:cNvPr id="638" name="Google Shape;638;p12"/>
            <p:cNvSpPr/>
            <p:nvPr/>
          </p:nvSpPr>
          <p:spPr>
            <a:xfrm flipH="1">
              <a:off x="6344628" y="928827"/>
              <a:ext cx="5092675" cy="5111615"/>
            </a:xfrm>
            <a:custGeom>
              <a:avLst/>
              <a:gdLst/>
              <a:ahLst/>
              <a:cxnLst/>
              <a:rect l="l" t="t" r="r" b="b"/>
              <a:pathLst>
                <a:path w="7000240" h="7026275" extrusionOk="0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 flipH="1">
              <a:off x="6518328" y="933582"/>
              <a:ext cx="4918977" cy="5111615"/>
            </a:xfrm>
            <a:custGeom>
              <a:avLst/>
              <a:gdLst/>
              <a:ahLst/>
              <a:cxnLst/>
              <a:rect l="l" t="t" r="r" b="b"/>
              <a:pathLst>
                <a:path w="6761480" h="7026275" extrusionOk="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w="6761480" h="7026275" extrusionOk="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w="6761480" h="7026275" extrusionOk="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 flipH="1">
              <a:off x="11438075" y="933582"/>
              <a:ext cx="753922" cy="5108381"/>
            </a:xfrm>
            <a:custGeom>
              <a:avLst/>
              <a:gdLst/>
              <a:ahLst/>
              <a:cxnLst/>
              <a:rect l="l" t="t" r="r" b="b"/>
              <a:pathLst>
                <a:path w="1036319" h="7021830" extrusionOk="0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w="1036319" h="7021830" extrusionOk="0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w="1036319" h="7021830" extrusionOk="0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w="1036319" h="7021830" extrusionOk="0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w="1036319" h="7021830" extrusionOk="0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w="1036319" h="7021830" extrusionOk="0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w="1036319" h="7021830" extrusionOk="0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w="1036319" h="7021830" extrusionOk="0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w="1036319" h="7021830" extrusionOk="0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w="1036319" h="7021830" extrusionOk="0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w="1036319" h="7021830" extrusionOk="0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w="1036319" h="7021830" extrusionOk="0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w="1036319" h="7021830" extrusionOk="0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w="1036319" h="7021830" extrusionOk="0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641" name="Google Shape;641;p12"/>
            <p:cNvPicPr preferRelativeResize="0"/>
            <p:nvPr/>
          </p:nvPicPr>
          <p:blipFill rotWithShape="1">
            <a:blip r:embed="rId3">
              <a:alphaModFix/>
            </a:blip>
            <a:srcRect b="2856"/>
            <a:stretch/>
          </p:blipFill>
          <p:spPr>
            <a:xfrm flipH="1">
              <a:off x="6813518" y="1877725"/>
              <a:ext cx="5314701" cy="412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12"/>
            <p:cNvSpPr/>
            <p:nvPr/>
          </p:nvSpPr>
          <p:spPr>
            <a:xfrm flipH="1">
              <a:off x="7022230" y="5871298"/>
              <a:ext cx="5169770" cy="174117"/>
            </a:xfrm>
            <a:custGeom>
              <a:avLst/>
              <a:gdLst/>
              <a:ahLst/>
              <a:cxnLst/>
              <a:rect l="l" t="t" r="r" b="b"/>
              <a:pathLst>
                <a:path w="8406130" h="1450975" extrusionOk="0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interledger.or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29225" y="295100"/>
            <a:ext cx="197232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"/>
          <p:cNvSpPr txBox="1">
            <a:spLocks noGrp="1"/>
          </p:cNvSpPr>
          <p:nvPr>
            <p:ph type="body" idx="1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MY" dirty="0"/>
              <a:t>INFINIDATA</a:t>
            </a:r>
            <a:endParaRPr dirty="0"/>
          </a:p>
        </p:txBody>
      </p:sp>
      <p:sp>
        <p:nvSpPr>
          <p:cNvPr id="648" name="Google Shape;648;p13"/>
          <p:cNvSpPr txBox="1">
            <a:spLocks noGrp="1"/>
          </p:cNvSpPr>
          <p:nvPr>
            <p:ph type="body" idx="2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MY" dirty="0"/>
              <a:t>AL DÍA</a:t>
            </a:r>
            <a:endParaRPr dirty="0"/>
          </a:p>
        </p:txBody>
      </p:sp>
      <p:sp>
        <p:nvSpPr>
          <p:cNvPr id="649" name="Google Shape;649;p13"/>
          <p:cNvSpPr txBox="1">
            <a:spLocks noGrp="1"/>
          </p:cNvSpPr>
          <p:nvPr>
            <p:ph type="body" idx="3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/>
              <a:t>FECHA:</a:t>
            </a:r>
            <a:br>
              <a:rPr lang="en-MY"/>
            </a:br>
            <a:r>
              <a:rPr lang="en-MY"/>
              <a:t>17 Octubre 2026</a:t>
            </a:r>
            <a:endParaRPr/>
          </a:p>
        </p:txBody>
      </p:sp>
      <p:sp>
        <p:nvSpPr>
          <p:cNvPr id="650" name="Google Shape;650;p13"/>
          <p:cNvSpPr txBox="1">
            <a:spLocks noGrp="1"/>
          </p:cNvSpPr>
          <p:nvPr>
            <p:ph type="body" idx="4"/>
          </p:nvPr>
        </p:nvSpPr>
        <p:spPr>
          <a:xfrm>
            <a:off x="2408178" y="6031225"/>
            <a:ext cx="271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 dirty="0"/>
              <a:t>CIUDAD: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BELLO – MEDELLÍN (VALLE DE ABURRÁ)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endParaRPr dirty="0"/>
          </a:p>
        </p:txBody>
      </p:sp>
      <p:sp>
        <p:nvSpPr>
          <p:cNvPr id="651" name="Tagline"/>
          <p:cNvSpPr txBox="1"/>
          <p:nvPr/>
        </p:nvSpPr>
        <p:spPr>
          <a:xfrm>
            <a:off x="658368" y="455371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oppins"/>
              </a:rPr>
              <a:t>Pagos de administración con Open Payments e Interledger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4"/>
          <p:cNvSpPr txBox="1">
            <a:spLocks noGrp="1"/>
          </p:cNvSpPr>
          <p:nvPr>
            <p:ph type="body" idx="1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Equipo Infinidata · Bello y Medellín</a:t>
            </a:r>
          </a:p>
        </p:txBody>
      </p:sp>
      <p:sp>
        <p:nvSpPr>
          <p:cNvPr id="656" name="Google Shape;656;p14"/>
          <p:cNvSpPr txBox="1">
            <a:spLocks noGrp="1"/>
          </p:cNvSpPr>
          <p:nvPr>
            <p:ph type="body" idx="2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>
                <a:solidFill>
                  <a:srgbClr val="560676"/>
                </a:solidFill>
              </a:rPr>
              <a:t>INTRODUCCIÓN DEL EQUIPO</a:t>
            </a:r>
            <a:endParaRPr/>
          </a:p>
        </p:txBody>
      </p:sp>
      <p:sp>
        <p:nvSpPr>
          <p:cNvPr id="657" name="Google Shape;657;p14"/>
          <p:cNvSpPr txBox="1">
            <a:spLocks noGrp="1"/>
          </p:cNvSpPr>
          <p:nvPr>
            <p:ph type="body" idx="4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MY" dirty="0"/>
              <a:t>Ana Lucia Monsalve Arboleda</a:t>
            </a:r>
            <a:endParaRPr dirty="0"/>
          </a:p>
        </p:txBody>
      </p:sp>
      <p:sp>
        <p:nvSpPr>
          <p:cNvPr id="658" name="Google Shape;658;p14"/>
          <p:cNvSpPr txBox="1">
            <a:spLocks noGrp="1"/>
          </p:cNvSpPr>
          <p:nvPr>
            <p:ph type="body" idx="5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 dirty="0">
                <a:solidFill>
                  <a:schemeClr val="dk1"/>
                </a:solidFill>
              </a:rPr>
              <a:t>Maria Luz Aide Castaño Murillo</a:t>
            </a:r>
            <a:endParaRPr dirty="0"/>
          </a:p>
        </p:txBody>
      </p:sp>
      <p:sp>
        <p:nvSpPr>
          <p:cNvPr id="659" name="Google Shape;659;p14"/>
          <p:cNvSpPr txBox="1">
            <a:spLocks noGrp="1"/>
          </p:cNvSpPr>
          <p:nvPr>
            <p:ph type="body" idx="6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 dirty="0">
                <a:solidFill>
                  <a:schemeClr val="dk1"/>
                </a:solidFill>
              </a:rPr>
              <a:t>Diego Alejandro Mesa Vásquez</a:t>
            </a:r>
            <a:endParaRPr dirty="0"/>
          </a:p>
        </p:txBody>
      </p:sp>
      <p:sp>
        <p:nvSpPr>
          <p:cNvPr id="660" name="Google Shape;660;p14"/>
          <p:cNvSpPr txBox="1">
            <a:spLocks noGrp="1"/>
          </p:cNvSpPr>
          <p:nvPr>
            <p:ph type="body" idx="7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 dirty="0">
                <a:solidFill>
                  <a:schemeClr val="dk1"/>
                </a:solidFill>
              </a:rPr>
              <a:t>Duver Mesa Vásquez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307416-E5A1-BCC0-68C1-B4F2ADEEE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57" y="1759104"/>
            <a:ext cx="4397144" cy="329992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quienes concilian pagos cada mes, esto es un dolor de cabeza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ASÍ SE PAGA LA ADMINISTRACIÓN HOY</a:t>
            </a:r>
          </a:p>
        </p:txBody>
      </p:sp>
      <p:pic>
        <p:nvPicPr>
          <p:cNvPr id="4" name="Picture 3" descr="proceso_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17320"/>
            <a:ext cx="10972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Pagar la administración es fácil. Demostrar que pagaste, 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0">
                <a:solidFill>
                  <a:srgbClr val="560777"/>
                </a:solidFill>
                <a:latin typeface="Poppins ExtraBold"/>
              </a:rPr>
              <a:t>61,7 %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56032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60777"/>
                </a:solidFill>
                <a:latin typeface="Poppins"/>
              </a:rPr>
              <a:t>de los hogares urbanos de Medellín vive en propiedad horizontal y paga una cuota de administración cada 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36499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5384"/>
                </a:solidFill>
                <a:latin typeface="Poppins"/>
              </a:rPr>
              <a:t>Fedelonjas, junio de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840480"/>
            <a:ext cx="4754880" cy="1920240"/>
          </a:xfrm>
          <a:prstGeom prst="roundRect">
            <a:avLst>
              <a:gd name="adj" fmla="val 7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3840480"/>
            <a:ext cx="42062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oppins ExtraBold"/>
              </a:rPr>
              <a:t>Hoy, pagar la administración termina en un pantallazo por WhatsApp y una conciliación manual que puede dejar en mora a quien ya pagó.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17320"/>
            <a:ext cx="5824728" cy="950976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664208"/>
            <a:ext cx="457200" cy="457200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560777"/>
                </a:solidFill>
                <a:latin typeface="Poppins ExtraBold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27048"/>
            <a:ext cx="4800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60777"/>
                </a:solidFill>
                <a:latin typeface="Poppins ExtraBold"/>
              </a:rPr>
              <a:t>El residente paga a ciegas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Escribe a mano monto y referencia, y guarda un pantallazo como única prueba.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514600"/>
            <a:ext cx="5824728" cy="950976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61888" y="2761488"/>
            <a:ext cx="457200" cy="457200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560777"/>
                </a:solidFill>
                <a:latin typeface="Poppins ExtraBold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800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60777"/>
                </a:solidFill>
                <a:latin typeface="Poppins ExtraBold"/>
              </a:rPr>
              <a:t>El administrador concilia a mano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Espera el extracto del banco y cruza pago por pago en Excel.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611880"/>
            <a:ext cx="5824728" cy="950976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61888" y="3858768"/>
            <a:ext cx="457200" cy="457200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560777"/>
                </a:solidFill>
                <a:latin typeface="Poppins ExtraBold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21608"/>
            <a:ext cx="4800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60777"/>
                </a:solidFill>
                <a:latin typeface="Poppins ExtraBold"/>
              </a:rPr>
              <a:t>El error lo paga quien sí pagó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Un pago sin identificar deja la cuota en mora y genera intereses.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709159"/>
            <a:ext cx="5824728" cy="950976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61888" y="4956048"/>
            <a:ext cx="457200" cy="457200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560777"/>
                </a:solidFill>
                <a:latin typeface="Poppins ExtraBold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18888"/>
            <a:ext cx="4800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60777"/>
                </a:solidFill>
                <a:latin typeface="Poppins ExtraBold"/>
              </a:rPr>
              <a:t>VIS y VIP, los más golpeados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No pueden pagar convenios de recaudo ni software de conciliación.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6"/>
          <p:cNvSpPr txBox="1">
            <a:spLocks noGrp="1"/>
          </p:cNvSpPr>
          <p:nvPr>
            <p:ph type="body" idx="2"/>
          </p:nvPr>
        </p:nvSpPr>
        <p:spPr>
          <a:xfrm>
            <a:off x="1516225" y="1614500"/>
            <a:ext cx="91557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s-CO" dirty="0"/>
              <a:t>Pagaste a tiempo. Pero para tu conjunto, sigues debiendo.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personas, un mismo pago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EL USUARIO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41732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417320"/>
            <a:ext cx="4617720" cy="3246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A915"/>
                </a:solidFill>
                <a:latin typeface="Poppins ExtraBold"/>
              </a:rPr>
              <a:t>QUIÉN PAGA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Poppins ExtraBold"/>
              </a:rPr>
              <a:t>Propietario o residente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A915"/>
                </a:solidFill>
                <a:latin typeface="Poppins ExtraBold"/>
              </a:rPr>
              <a:t>HOY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E6D9F0"/>
                </a:solidFill>
                <a:latin typeface="Poppins"/>
              </a:rPr>
              <a:t>Paga, manda un pantallazo y espera que alguien confirme. Si el pago se pierde, queda en mora.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A915"/>
                </a:solidFill>
                <a:latin typeface="Poppins ExtraBold"/>
              </a:rPr>
              <a:t>CON AL DÍA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oppins ExtraBold"/>
              </a:rPr>
              <a:t>Escanea un QR, autoriza en su billetera y recibe la confirmación al instante.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1968" y="1417320"/>
            <a:ext cx="4617720" cy="3246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60777"/>
                </a:solidFill>
                <a:latin typeface="Poppins ExtraBold"/>
              </a:rPr>
              <a:t>QUIÉN COBRA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560777"/>
                </a:solidFill>
                <a:latin typeface="Poppins ExtraBold"/>
              </a:rPr>
              <a:t>Administrador del conjunto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60777"/>
                </a:solidFill>
                <a:latin typeface="Poppins ExtraBold"/>
              </a:rPr>
              <a:t>HOY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4A40"/>
                </a:solidFill>
                <a:latin typeface="Poppins"/>
              </a:rPr>
              <a:t>Recibe soportes por WhatsApp y concilia contra el extracto días después.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60777"/>
                </a:solidFill>
                <a:latin typeface="Poppins ExtraBold"/>
              </a:rPr>
              <a:t>CON AL DÍA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60777"/>
                </a:solidFill>
                <a:latin typeface="Poppins ExtraBold"/>
              </a:rPr>
              <a:t>Ve cada pago identificado por torre, apartamento y mes en un panel en vivo.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4937760"/>
            <a:ext cx="10981944" cy="566928"/>
          </a:xfrm>
          <a:prstGeom prst="roundRect">
            <a:avLst>
              <a:gd name="adj" fmla="val 5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60777"/>
                </a:solidFill>
                <a:latin typeface="Poppins ExtraBold"/>
              </a:rPr>
              <a:t>Foco del piloto: </a:t>
            </a:r>
            <a:r>
              <a:rPr sz="1400" b="0">
                <a:solidFill>
                  <a:srgbClr val="560777"/>
                </a:solidFill>
                <a:latin typeface="Poppins"/>
              </a:rPr>
              <a:t>conjuntos VIS y VIP del Valle de Aburrá sin presupuesto para convenios de recaudo.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7"/>
          <p:cNvSpPr txBox="1">
            <a:spLocks noGrp="1"/>
          </p:cNvSpPr>
          <p:nvPr>
            <p:ph type="body" idx="1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s-CO" dirty="0"/>
              <a:t>Con Al Día, el propietario paga y el administrador lo ve al instante. Los dos quedan al día.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Open Payments e Interledger, pagar y conciliar ocurren en el mismo clic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60777"/>
                </a:solidFill>
                <a:latin typeface="Poppins"/>
              </a:rPr>
              <a:t>Al Día es una web sencilla: el propietario escribe torre y apartamento, elige la cuota y paga con un QR desde su billetera. El administrador ve el pago confirmado en su panel, sin buscar soportes.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28600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2104" y="2487168"/>
            <a:ext cx="457200" cy="457200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3063240"/>
            <a:ext cx="20574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60777"/>
                </a:solidFill>
                <a:latin typeface="Poppins ExtraBold"/>
              </a:rPr>
              <a:t>Consulta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Torre y apartamento muestran las cuotas pendientes y en mora.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60777"/>
                </a:solidFill>
                <a:latin typeface="Poppins ExtraBold"/>
              </a:rPr>
              <a:t>AL DÍA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3310128"/>
            <a:ext cx="201168" cy="365760"/>
          </a:xfrm>
          <a:prstGeom prst="chevron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8144" y="228600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66744" y="2487168"/>
            <a:ext cx="457200" cy="457200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063240"/>
            <a:ext cx="20574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60777"/>
                </a:solidFill>
                <a:latin typeface="Poppins ExtraBold"/>
              </a:rPr>
              <a:t>Cobro con QR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5384"/>
                </a:solidFill>
                <a:latin typeface="Poppins"/>
              </a:rPr>
              <a:t>Cada cuota es un pago entrante con monto exacto.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60777"/>
                </a:solidFill>
                <a:latin typeface="Poppins ExtraBold"/>
              </a:rPr>
              <a:t>OPEN PAYMENTS · INCOMING PAYMENT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5989320" y="3310128"/>
            <a:ext cx="201168" cy="365760"/>
          </a:xfrm>
          <a:prstGeom prst="chevron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2784" y="228600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01384" y="2487168"/>
            <a:ext cx="457200" cy="457200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0">
                <a:solidFill>
                  <a:srgbClr val="560777"/>
                </a:solidFill>
                <a:latin typeface="Poppins Extra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063240"/>
            <a:ext cx="20574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Poppins ExtraBold"/>
              </a:rPr>
              <a:t>Autoriza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D9F0"/>
                </a:solidFill>
                <a:latin typeface="Poppins"/>
              </a:rPr>
              <a:t>El propietario aprueba en su propia billetera, con un límite de monto.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Poppins ExtraBold"/>
              </a:rPr>
              <a:t>OPEN PAYMENTS · GRANT INTERACTIVO</a:t>
            </a:r>
          </a:p>
        </p:txBody>
      </p:sp>
      <p:sp>
        <p:nvSpPr>
          <p:cNvPr id="19" name="Chevron 18"/>
          <p:cNvSpPr/>
          <p:nvPr/>
        </p:nvSpPr>
        <p:spPr>
          <a:xfrm>
            <a:off x="8823960" y="3310128"/>
            <a:ext cx="201168" cy="365760"/>
          </a:xfrm>
          <a:prstGeom prst="chevron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07424" y="228600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36024" y="2487168"/>
            <a:ext cx="457200" cy="457200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063240"/>
            <a:ext cx="20574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60777"/>
                </a:solidFill>
                <a:latin typeface="Poppins ExtraBold"/>
              </a:rPr>
              <a:t>Confirmado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4A40"/>
                </a:solidFill>
                <a:latin typeface="Poppins"/>
              </a:rPr>
              <a:t>Interledger liquida entre billeteras y los dos ven el pago al instante.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60777"/>
                </a:solidFill>
                <a:latin typeface="Poppins ExtraBold"/>
              </a:rPr>
              <a:t>INTERLEDGER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5029200"/>
            <a:ext cx="3483864" cy="548640"/>
          </a:xfrm>
          <a:prstGeom prst="roundRect">
            <a:avLst>
              <a:gd name="adj" fmla="val 5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0664" y="5120640"/>
            <a:ext cx="365760" cy="365760"/>
          </a:xfrm>
          <a:prstGeom prst="ellipse">
            <a:avLst/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560777"/>
                </a:solidFill>
                <a:latin typeface="Poppins Extra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5029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60777"/>
                </a:solidFill>
                <a:latin typeface="Poppins ExtraBold"/>
              </a:rPr>
              <a:t>Sin convenio bancario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2544" y="5029200"/>
            <a:ext cx="3483864" cy="548640"/>
          </a:xfrm>
          <a:prstGeom prst="roundRect">
            <a:avLst>
              <a:gd name="adj" fmla="val 5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489704" y="5120640"/>
            <a:ext cx="365760" cy="365760"/>
          </a:xfrm>
          <a:prstGeom prst="ellipse">
            <a:avLst/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560777"/>
                </a:solidFill>
                <a:latin typeface="Poppins ExtraBold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5029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60777"/>
                </a:solidFill>
                <a:latin typeface="Poppins ExtraBold"/>
              </a:rPr>
              <a:t>Sin comisión por pago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5029200"/>
            <a:ext cx="3483864" cy="548640"/>
          </a:xfrm>
          <a:prstGeom prst="roundRect">
            <a:avLst>
              <a:gd name="adj" fmla="val 5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38744" y="5120640"/>
            <a:ext cx="365760" cy="365760"/>
          </a:xfrm>
          <a:prstGeom prst="ellipse">
            <a:avLst/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560777"/>
                </a:solidFill>
                <a:latin typeface="Poppins Extra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3" y="5029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60777"/>
                </a:solidFill>
                <a:latin typeface="Poppins ExtraBold"/>
              </a:rPr>
              <a:t>Sin conciliación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 Día mueve información. Los bancos mueven el dinero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CÓMO USAMOS OPEN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463040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" y="1691640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5544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Leer las billeteras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walletAddress.get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496312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6384" y="2724912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58775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Permiso para cobrar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grant: incoming-payment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529584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6384" y="3758183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621024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Crear el cobro de la cuota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incomingPayment.create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4562856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" y="4791456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4654296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Permiso para cotizar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grant: quote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2504" y="1463040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15384" y="1691640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5544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Cotizar el débito exacto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quote.create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32504" y="2496312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15384" y="2724912"/>
            <a:ext cx="438912" cy="438912"/>
          </a:xfrm>
          <a:prstGeom prst="ellipse">
            <a:avLst/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560777"/>
                </a:solidFill>
                <a:latin typeface="Poppins ExtraBold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258775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Poppins ExtraBold"/>
              </a:rPr>
              <a:t>El propietario autoriza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D9F0"/>
                </a:solidFill>
                <a:latin typeface="Courier New"/>
              </a:rPr>
              <a:t>grant interactivo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2504" y="3529584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15384" y="3758183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3621024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Volver a Al Día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grant.continue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2504" y="4562856"/>
            <a:ext cx="3246120" cy="896112"/>
          </a:xfrm>
          <a:prstGeom prst="roundRect">
            <a:avLst>
              <a:gd name="adj" fmla="val 12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15384" y="4791456"/>
            <a:ext cx="438912" cy="438912"/>
          </a:xfrm>
          <a:prstGeom prst="ellipse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Poppins ExtraBold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4654296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60777"/>
                </a:solidFill>
                <a:latin typeface="Poppins ExtraBold"/>
              </a:rPr>
              <a:t>Pago ejecutado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E5384"/>
                </a:solidFill>
                <a:latin typeface="Courier New"/>
              </a:rPr>
              <a:t>outgoingPayment.create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463040"/>
            <a:ext cx="3858768" cy="914400"/>
          </a:xfrm>
          <a:prstGeom prst="roundRect">
            <a:avLst>
              <a:gd name="adj" fmla="val 12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1463040"/>
            <a:ext cx="3858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Poppins ExtraBold"/>
              </a:rPr>
              <a:t>Al Día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E6D9F0"/>
                </a:solidFill>
                <a:latin typeface="Poppins"/>
              </a:rPr>
              <a:t>solo información firmada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41080" y="2377440"/>
            <a:ext cx="0" cy="685800"/>
          </a:xfrm>
          <a:prstGeom prst="line">
            <a:avLst/>
          </a:prstGeom>
          <a:ln w="28575">
            <a:solidFill>
              <a:srgbClr val="90A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71047" y="2377440"/>
            <a:ext cx="0" cy="685800"/>
          </a:xfrm>
          <a:prstGeom prst="line">
            <a:avLst/>
          </a:prstGeom>
          <a:ln w="28575">
            <a:solidFill>
              <a:srgbClr val="90A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78240" y="246888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5384"/>
                </a:solidFill>
                <a:latin typeface="Poppins"/>
              </a:rPr>
              <a:t>cobro · cotización · consentimiento · estado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3063240"/>
            <a:ext cx="1828800" cy="868680"/>
          </a:xfrm>
          <a:prstGeom prst="roundRect">
            <a:avLst>
              <a:gd name="adj" fmla="val 14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7" y="3063240"/>
            <a:ext cx="160934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60777"/>
                </a:solidFill>
                <a:latin typeface="Poppins ExtraBold"/>
              </a:rPr>
              <a:t>Billetera del propietario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6647" y="3063240"/>
            <a:ext cx="1828800" cy="868680"/>
          </a:xfrm>
          <a:prstGeom prst="roundRect">
            <a:avLst>
              <a:gd name="adj" fmla="val 14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66375" y="3063240"/>
            <a:ext cx="160934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60777"/>
                </a:solidFill>
                <a:latin typeface="Poppins ExtraBold"/>
              </a:rPr>
              <a:t>Billetera del conjunto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26679" y="4114800"/>
            <a:ext cx="3858768" cy="731520"/>
          </a:xfrm>
          <a:prstGeom prst="rightArrow">
            <a:avLst/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99247" y="4372838"/>
            <a:ext cx="3886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560777"/>
                </a:solidFill>
                <a:latin typeface="Poppins ExtraBold"/>
              </a:rPr>
              <a:t>Interledger </a:t>
            </a:r>
            <a:r>
              <a:rPr lang="es-CO" sz="1400" b="0" dirty="0">
                <a:solidFill>
                  <a:srgbClr val="560777"/>
                </a:solidFill>
                <a:latin typeface="Poppins ExtraBold"/>
              </a:rPr>
              <a:t>nuestra autopista</a:t>
            </a:r>
            <a:endParaRPr sz="1400" b="0" dirty="0">
              <a:solidFill>
                <a:srgbClr val="560777"/>
              </a:solidFill>
              <a:latin typeface="Poppins ExtraBol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26679" y="4983480"/>
            <a:ext cx="38587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560777"/>
                </a:solidFill>
                <a:latin typeface="Poppins"/>
              </a:rPr>
              <a:t>Al Día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nunca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recibe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ni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guarda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fondos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. La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liquidación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ocurre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entre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los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proveedores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 de las dos </a:t>
            </a:r>
            <a:r>
              <a:rPr sz="1250" b="0" dirty="0" err="1">
                <a:solidFill>
                  <a:srgbClr val="560777"/>
                </a:solidFill>
                <a:latin typeface="Poppins"/>
              </a:rPr>
              <a:t>billeteras</a:t>
            </a:r>
            <a:r>
              <a:rPr sz="1250" b="0" dirty="0">
                <a:solidFill>
                  <a:srgbClr val="560777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Una </a:t>
            </a:r>
            <a:r>
              <a:rPr lang="es-CO" dirty="0"/>
              <a:t>buena solucion es aquella que beneficia al ecosistema. Gana - Gana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POR QUÉ IMPORTA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417320"/>
            <a:ext cx="3538728" cy="1371600"/>
          </a:xfrm>
          <a:prstGeom prst="roundRect">
            <a:avLst>
              <a:gd name="adj" fmla="val 1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48132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560777"/>
                </a:solidFill>
                <a:latin typeface="Poppins ExtraBold"/>
              </a:rPr>
              <a:t>≈ 12.600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5384"/>
                </a:solidFill>
                <a:latin typeface="Poppins"/>
              </a:rPr>
              <a:t>copropiedades residenciales en el Valle de Aburrá (estimación del equipo)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417320"/>
            <a:ext cx="3538728" cy="1371600"/>
          </a:xfrm>
          <a:prstGeom prst="roundRect">
            <a:avLst>
              <a:gd name="adj" fmla="val 1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48132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560777"/>
                </a:solidFill>
                <a:latin typeface="Poppins ExtraBold"/>
              </a:rPr>
              <a:t>$762 mil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5384"/>
                </a:solidFill>
                <a:latin typeface="Poppins"/>
              </a:rPr>
              <a:t>COP al año en cuotas de estratos 1 a 3 (estimación del equipo)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538728" cy="1371600"/>
          </a:xfrm>
          <a:prstGeom prst="roundRect">
            <a:avLst>
              <a:gd name="adj" fmla="val 10000"/>
            </a:avLst>
          </a:prstGeom>
          <a:solidFill>
            <a:srgbClr val="EA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48132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560777"/>
                </a:solidFill>
                <a:latin typeface="Poppins ExtraBold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5384"/>
                </a:solidFill>
                <a:latin typeface="Poppins"/>
              </a:rPr>
              <a:t>de comisión por pago. Plan gratis para conjuntos de hasta 24 unidades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17520"/>
            <a:ext cx="2606040" cy="2743200"/>
          </a:xfrm>
          <a:prstGeom prst="roundRect">
            <a:avLst>
              <a:gd name="adj" fmla="val 7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859536" y="3246120"/>
            <a:ext cx="256032" cy="347472"/>
          </a:xfrm>
          <a:prstGeom prst="chevron">
            <a:avLst/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730752"/>
            <a:ext cx="2148840" cy="137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 dirty="0" err="1">
                <a:solidFill>
                  <a:srgbClr val="FFFFFF"/>
                </a:solidFill>
                <a:latin typeface="Poppins ExtraBold"/>
              </a:rPr>
              <a:t>Inclusión</a:t>
            </a:r>
            <a:endParaRPr lang="es-CO" sz="1900" b="0" dirty="0">
              <a:solidFill>
                <a:srgbClr val="FFFFFF"/>
              </a:solidFill>
              <a:latin typeface="Poppins ExtraBold"/>
            </a:endParaRPr>
          </a:p>
          <a:p>
            <a:pPr algn="l">
              <a:spcAft>
                <a:spcPts val="100"/>
              </a:spcAft>
            </a:pPr>
            <a:endParaRPr sz="1900" b="0" dirty="0">
              <a:solidFill>
                <a:srgbClr val="FFFFFF"/>
              </a:solidFill>
              <a:latin typeface="Poppins ExtraBold"/>
            </a:endParaRPr>
          </a:p>
          <a:p>
            <a:pPr algn="l">
              <a:spcAft>
                <a:spcPts val="0"/>
              </a:spcAft>
            </a:pPr>
            <a:r>
              <a:rPr sz="1250" b="1" dirty="0">
                <a:solidFill>
                  <a:srgbClr val="E6D9F0"/>
                </a:solidFill>
                <a:latin typeface="Poppins"/>
              </a:rPr>
              <a:t>Conjuntos VIS y VIP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cobran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 sin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convenios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,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facturadoras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ni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 software. Solo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una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E6D9F0"/>
                </a:solidFill>
                <a:latin typeface="Poppins"/>
              </a:rPr>
              <a:t>billetera</a:t>
            </a:r>
            <a:r>
              <a:rPr sz="1250" b="0" dirty="0">
                <a:solidFill>
                  <a:srgbClr val="E6D9F0"/>
                </a:solidFill>
                <a:latin typeface="Poppins"/>
              </a:rPr>
              <a:t> y un QR.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2424" y="3017520"/>
            <a:ext cx="2606040" cy="2743200"/>
          </a:xfrm>
          <a:prstGeom prst="roundRect">
            <a:avLst>
              <a:gd name="adj" fmla="val 7000"/>
            </a:avLst>
          </a:prstGeom>
          <a:solidFill>
            <a:srgbClr val="00E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3648456" y="3246120"/>
            <a:ext cx="256032" cy="347472"/>
          </a:xfrm>
          <a:prstGeom prst="chevron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48456" y="3730752"/>
            <a:ext cx="2148840" cy="137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 dirty="0" err="1">
                <a:solidFill>
                  <a:srgbClr val="560777"/>
                </a:solidFill>
                <a:latin typeface="Poppins ExtraBold"/>
              </a:rPr>
              <a:t>Innovación</a:t>
            </a:r>
            <a:endParaRPr lang="es-CO"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100"/>
              </a:spcAft>
            </a:pPr>
            <a:endParaRPr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0"/>
              </a:spcAft>
            </a:pPr>
            <a:r>
              <a:rPr sz="1250" b="1" dirty="0">
                <a:solidFill>
                  <a:srgbClr val="0B4A40"/>
                </a:solidFill>
                <a:latin typeface="Poppins"/>
              </a:rPr>
              <a:t>Pagar y conciliar son el </a:t>
            </a:r>
            <a:r>
              <a:rPr sz="1250" b="1" dirty="0" err="1">
                <a:solidFill>
                  <a:srgbClr val="0B4A40"/>
                </a:solidFill>
                <a:latin typeface="Poppins"/>
              </a:rPr>
              <a:t>mismo</a:t>
            </a:r>
            <a:r>
              <a:rPr sz="1250" b="1" dirty="0">
                <a:solidFill>
                  <a:srgbClr val="0B4A40"/>
                </a:solidFill>
                <a:latin typeface="Poppins"/>
              </a:rPr>
              <a:t> </a:t>
            </a:r>
            <a:r>
              <a:rPr sz="1250" b="1" dirty="0" err="1">
                <a:solidFill>
                  <a:srgbClr val="0B4A40"/>
                </a:solidFill>
                <a:latin typeface="Poppins"/>
              </a:rPr>
              <a:t>evento</a:t>
            </a:r>
            <a:r>
              <a:rPr sz="1250" b="1" dirty="0">
                <a:solidFill>
                  <a:srgbClr val="0B4A40"/>
                </a:solidFill>
                <a:latin typeface="Poppins"/>
              </a:rPr>
              <a:t>: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cada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cuota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es un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pago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entrante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con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su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propia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0B4A40"/>
                </a:solidFill>
                <a:latin typeface="Poppins"/>
              </a:rPr>
              <a:t>referencia</a:t>
            </a:r>
            <a:r>
              <a:rPr sz="1250" b="0" dirty="0">
                <a:solidFill>
                  <a:srgbClr val="0B4A40"/>
                </a:solidFill>
                <a:latin typeface="Poppi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017520"/>
            <a:ext cx="2606040" cy="2743200"/>
          </a:xfrm>
          <a:prstGeom prst="roundRect">
            <a:avLst>
              <a:gd name="adj" fmla="val 7000"/>
            </a:avLst>
          </a:prstGeom>
          <a:solidFill>
            <a:srgbClr val="FFA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evron 19"/>
          <p:cNvSpPr/>
          <p:nvPr/>
        </p:nvSpPr>
        <p:spPr>
          <a:xfrm>
            <a:off x="6437376" y="3246120"/>
            <a:ext cx="256032" cy="347472"/>
          </a:xfrm>
          <a:prstGeom prst="chevron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730752"/>
            <a:ext cx="2148840" cy="1572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 dirty="0">
                <a:solidFill>
                  <a:srgbClr val="560777"/>
                </a:solidFill>
                <a:latin typeface="Poppins ExtraBold"/>
              </a:rPr>
              <a:t>Impacto</a:t>
            </a:r>
            <a:endParaRPr lang="es-CO"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100"/>
              </a:spcAft>
            </a:pPr>
            <a:endParaRPr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4A2A00"/>
                </a:solidFill>
                <a:latin typeface="Poppins"/>
              </a:rPr>
              <a:t>Piloto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en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 el Valle de Aburrá, luego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otras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ciudades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 y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otros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cobros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: colegios, juntas,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acueductos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4A2A00"/>
                </a:solidFill>
                <a:latin typeface="Poppins"/>
              </a:rPr>
              <a:t>comunitarios</a:t>
            </a:r>
            <a:r>
              <a:rPr sz="1250" b="0" dirty="0">
                <a:solidFill>
                  <a:srgbClr val="4A2A00"/>
                </a:solidFill>
                <a:latin typeface="Poppin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3017520"/>
            <a:ext cx="2606040" cy="2743200"/>
          </a:xfrm>
          <a:prstGeom prst="roundRect">
            <a:avLst>
              <a:gd name="adj" fmla="val 7000"/>
            </a:avLst>
          </a:prstGeom>
          <a:solidFill>
            <a:srgbClr val="90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9226295" y="3246120"/>
            <a:ext cx="256032" cy="347472"/>
          </a:xfrm>
          <a:prstGeom prst="chevron">
            <a:avLst/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5" y="3730752"/>
            <a:ext cx="2148840" cy="1187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 dirty="0">
                <a:solidFill>
                  <a:srgbClr val="560777"/>
                </a:solidFill>
                <a:latin typeface="Poppins ExtraBold"/>
              </a:rPr>
              <a:t>Comunidad</a:t>
            </a:r>
            <a:endParaRPr lang="es-CO"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100"/>
              </a:spcAft>
            </a:pPr>
            <a:endParaRPr sz="1900" b="0" dirty="0">
              <a:solidFill>
                <a:srgbClr val="560777"/>
              </a:solidFill>
              <a:latin typeface="Poppins ExtraBold"/>
            </a:endParaRPr>
          </a:p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2A2060"/>
                </a:solidFill>
                <a:latin typeface="Poppins"/>
              </a:rPr>
              <a:t>Código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abierto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y un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problema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que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casi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todos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en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esta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sala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han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 </a:t>
            </a:r>
            <a:r>
              <a:rPr sz="1250" b="0" dirty="0" err="1">
                <a:solidFill>
                  <a:srgbClr val="2A2060"/>
                </a:solidFill>
                <a:latin typeface="Poppins"/>
              </a:rPr>
              <a:t>vivido</a:t>
            </a:r>
            <a:r>
              <a:rPr sz="1250" b="0" dirty="0">
                <a:solidFill>
                  <a:srgbClr val="2A2060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9"/>
          <p:cNvSpPr txBox="1">
            <a:spLocks noGrp="1"/>
          </p:cNvSpPr>
          <p:nvPr>
            <p:ph type="body" idx="1"/>
          </p:nvPr>
        </p:nvSpPr>
        <p:spPr>
          <a:xfrm>
            <a:off x="6505625" y="1814321"/>
            <a:ext cx="4946100" cy="22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MY"/>
              <a:t>DEMO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MY"/>
              <a:t>EN VIVO</a:t>
            </a:r>
            <a:endParaRPr/>
          </a:p>
        </p:txBody>
      </p:sp>
      <p:sp>
        <p:nvSpPr>
          <p:cNvPr id="692" name="Rounded Rectangle 691"/>
          <p:cNvSpPr/>
          <p:nvPr/>
        </p:nvSpPr>
        <p:spPr>
          <a:xfrm>
            <a:off x="9372600" y="1691640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TextBox 693"/>
          <p:cNvSpPr txBox="1"/>
          <p:nvPr/>
        </p:nvSpPr>
        <p:spPr>
          <a:xfrm>
            <a:off x="8887968" y="37673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oppins"/>
              </a:rPr>
              <a:t>Escanea y paga una cuota de prueba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F89905-1877-D9A7-B5F3-9CF89A43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332" y="1814321"/>
            <a:ext cx="1779351" cy="177935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0"/>
          <p:cNvSpPr txBox="1">
            <a:spLocks noGrp="1"/>
          </p:cNvSpPr>
          <p:nvPr>
            <p:ph type="body" idx="1"/>
          </p:nvPr>
        </p:nvSpPr>
        <p:spPr>
          <a:xfrm>
            <a:off x="6082625" y="1010298"/>
            <a:ext cx="5329200" cy="3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3000"/>
              <a:t>Un conjunto VIS no debería pagar más por cobrar su administración que lo que paga por cuidarla.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0" y="3794760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Equipo Infinidata · Al Día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1018</Words>
  <Application>Microsoft Office PowerPoint</Application>
  <PresentationFormat>Panorámica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Poppins Light</vt:lpstr>
      <vt:lpstr>Poppins ExtraBold</vt:lpstr>
      <vt:lpstr>Arial</vt:lpstr>
      <vt:lpstr>Poppins Black</vt:lpstr>
      <vt:lpstr>Poppins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Mesa Vasquez Diego Alejandro</cp:lastModifiedBy>
  <cp:revision>10</cp:revision>
  <dcterms:modified xsi:type="dcterms:W3CDTF">2026-10-17T13:33:08Z</dcterms:modified>
</cp:coreProperties>
</file>